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project. Explain that the aim is to use historical IPL data and Power BI to compare team strengths. The 2027 winner is not known yet; this presentation explains a responsible prediction workflow, not a confirmed outcome.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journey from raw match data to a useful report. Power BI is the visualization and analysis layer; the quality of the result depends on clean data and a sensible method.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as a decision-support project, not fortune-telling. The objectives move from data preparation to analysis, dashboard design, and a cautious estimate of contenders.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two-table structure. The right-hand table now uses verified recent final results: KKR won in 2024; RCB won in 2025 and defended the title in 2026. The data shown is a small verified sample, not the full match dataset. Source: https://www.iplt20.com/news/article/tata-ipl-2026-final-rcb-v-gt-match-report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Power Query is used for shaping and cleaning data. DAX defines reusable calculations. Python or machine learning is optional and should only be included if the model is actually trained and evaluated.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historical title counts: CSK and MI lead with five each, KKR has three, RCB has two after winning in both 2025 and 2026. Also share verified 2026 season totals: 2,332 fours, 1,426 sixes, 835 wickets, Vaibhav Sooryavanshi scored 776 runs and Kagiso Rabada took 29 wickets. Source: https://www.iplt20.com/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dashboard design mockup populated with verified headline facts: 19 seasons from 2008 to 2026, eight different champions, the 2026 leading scorer (776 runs) and leading wicket-taker (29 wickets). Some tiny chart marks are still design placeholders, not calculated team win percentages. Use the official results and a complete match dataset to build actual interactive visuals in Power BI.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proposed methodology, not a trained model. The weights are illustrative starting assumptions, not empirically optimized values. Back-test across earlier seasons, compare against a simple baseline, and report uncertainty before presenting probability estimates.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chart is now a real historical title leaderboard through 2026, not a predicted 2027 ranking. CSK and MI have five titles each, KKR three, RCB two, and Rajasthan Royals, Deccan Chargers, Sunrisers Hyderabad and Gujarat Titans one each. Past titles alone should not be used as a prediction. Source: https://www.iplt20.com/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Conclude by connecting the three stages: historical data, interactive insights, and a cautious estimate. Invite questions. Remind the audience that predictions should be updated when squads and season data become available.</a:t>
            </a:r>
          </a:p>
          <a:p>
            <a:r>
              <a:t>References: Official IPL website https://www.iplt20.com/ ; official 2026 final report https://www.iplt20.com/news/article/tata-ipl-2026-final-rcb-v-gt-match-report ; Kaggle IPL dataset https://www.kaggle.com/datasets/nowke9/ipldata ; Microsoft Power Query https://learn.microsoft.com/en-us/power-query/ ; DAX https://learn.microsoft.com/en-us/power-bi/transform-model/desktop-quickstart-learn-dax-basics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1424"/>
        </a:solidFill>
        <a:effectLst/>
      </p:bgPr>
    </p:bg>
    <p:spTree>
      <p:nvGrpSpPr>
        <p:cNvPr id="1" name=""/>
        <p:cNvGrpSpPr/>
        <p:nvPr/>
      </p:nvGrpSpPr>
      <p:grpSpPr/>
      <p:sp>
        <p:nvSpPr>
          <p:cNvPr id="2" name="Rectangle 1"/>
          <p:cNvSpPr/>
          <p:nvPr/>
        </p:nvSpPr>
        <p:spPr>
          <a:xfrm>
            <a:off x="6858000" y="0"/>
            <a:ext cx="5330952" cy="6858000"/>
          </a:xfrm>
          <a:prstGeom prst="rect">
            <a:avLst/>
          </a:prstGeom>
          <a:solidFill>
            <a:srgbClr val="0F2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0" y="411480"/>
            <a:ext cx="164592" cy="164592"/>
          </a:xfrm>
          <a:prstGeom prst="ellipse">
            <a:avLst/>
          </a:prstGeom>
          <a:solidFill>
            <a:srgbClr val="FFD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001000" y="548640"/>
            <a:ext cx="164592" cy="164592"/>
          </a:xfrm>
          <a:prstGeom prst="ellipse">
            <a:avLst/>
          </a:prstGeom>
          <a:solidFill>
            <a:srgbClr val="FFD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686800" y="411480"/>
            <a:ext cx="164592" cy="164592"/>
          </a:xfrm>
          <a:prstGeom prst="ellipse">
            <a:avLst/>
          </a:prstGeom>
          <a:solidFill>
            <a:srgbClr val="FFD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72600" y="548640"/>
            <a:ext cx="164592" cy="164592"/>
          </a:xfrm>
          <a:prstGeom prst="ellipse">
            <a:avLst/>
          </a:prstGeom>
          <a:solidFill>
            <a:srgbClr val="FFD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058400" y="411480"/>
            <a:ext cx="164592" cy="164592"/>
          </a:xfrm>
          <a:prstGeom prst="ellipse">
            <a:avLst/>
          </a:prstGeom>
          <a:solidFill>
            <a:srgbClr val="FFD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75320" y="2011680"/>
            <a:ext cx="2423160" cy="3383280"/>
          </a:xfrm>
          <a:prstGeom prst="rect">
            <a:avLst/>
          </a:prstGeom>
          <a:solidFill>
            <a:srgbClr val="206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144000" y="2468880"/>
            <a:ext cx="685800" cy="2468880"/>
          </a:xfrm>
          <a:prstGeom prst="rect">
            <a:avLst/>
          </a:prstGeom>
          <a:solidFill>
            <a:srgbClr val="B9A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070848" y="2834640"/>
            <a:ext cx="822960" cy="457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070848" y="4572000"/>
            <a:ext cx="822960" cy="4572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69480" y="5166360"/>
            <a:ext cx="310896" cy="548640"/>
          </a:xfrm>
          <a:prstGeom prst="rect">
            <a:avLst/>
          </a:prstGeom>
          <a:solidFill>
            <a:srgbClr val="46D2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927848" y="4800600"/>
            <a:ext cx="310896" cy="914400"/>
          </a:xfrm>
          <a:prstGeom prst="rect">
            <a:avLst/>
          </a:prstGeom>
          <a:solidFill>
            <a:srgbClr val="FF9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586216" y="4389120"/>
            <a:ext cx="310896" cy="1325880"/>
          </a:xfrm>
          <a:prstGeom prst="rect">
            <a:avLst/>
          </a:prstGeom>
          <a:solidFill>
            <a:srgbClr val="4A9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244584" y="4937760"/>
            <a:ext cx="310896" cy="777240"/>
          </a:xfrm>
          <a:prstGeom prst="rect">
            <a:avLst/>
          </a:prstGeom>
          <a:solidFill>
            <a:srgbClr val="46D2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902952" y="4160520"/>
            <a:ext cx="310896" cy="1554480"/>
          </a:xfrm>
          <a:prstGeom prst="rect">
            <a:avLst/>
          </a:prstGeom>
          <a:solidFill>
            <a:srgbClr val="FF9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561320" y="4617720"/>
            <a:ext cx="310896" cy="1097280"/>
          </a:xfrm>
          <a:prstGeom prst="rect">
            <a:avLst/>
          </a:prstGeom>
          <a:solidFill>
            <a:srgbClr val="4A9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621792"/>
            <a:ext cx="6217920" cy="320040"/>
          </a:xfrm>
          <a:prstGeom prst="rect">
            <a:avLst/>
          </a:prstGeom>
          <a:noFill/>
        </p:spPr>
        <p:txBody>
          <a:bodyPr wrap="square" lIns="36576" rIns="36576" tIns="36576" bIns="36576" anchor="t">
            <a:spAutoFit/>
          </a:bodyPr>
          <a:lstStyle/>
          <a:p>
            <a:pPr>
              <a:spcAft>
                <a:spcPts val="400"/>
              </a:spcAft>
            </a:pPr>
            <a:r>
              <a:rPr sz="1200" b="1">
                <a:solidFill>
                  <a:srgbClr val="46D287"/>
                </a:solidFill>
                <a:latin typeface="Aptos"/>
              </a:rPr>
              <a:t>SPORTS ANALYTICS • POWER BI</a:t>
            </a:r>
          </a:p>
        </p:txBody>
      </p:sp>
      <p:sp>
        <p:nvSpPr>
          <p:cNvPr id="19" name="TextBox 18"/>
          <p:cNvSpPr txBox="1"/>
          <p:nvPr/>
        </p:nvSpPr>
        <p:spPr>
          <a:xfrm>
            <a:off x="685800" y="1353312"/>
            <a:ext cx="6583680" cy="1508760"/>
          </a:xfrm>
          <a:prstGeom prst="rect">
            <a:avLst/>
          </a:prstGeom>
          <a:noFill/>
        </p:spPr>
        <p:txBody>
          <a:bodyPr wrap="square" lIns="36576" rIns="36576" tIns="36576" bIns="36576" anchor="t">
            <a:spAutoFit/>
          </a:bodyPr>
          <a:lstStyle/>
          <a:p>
            <a:pPr>
              <a:spcAft>
                <a:spcPts val="400"/>
              </a:spcAft>
            </a:pPr>
            <a:r>
              <a:rPr sz="3400" b="1">
                <a:solidFill>
                  <a:srgbClr val="F5F8FC"/>
                </a:solidFill>
                <a:latin typeface="Aptos"/>
              </a:rPr>
              <a:t>IPL 2027 WINNER
PREDICTION</a:t>
            </a:r>
          </a:p>
        </p:txBody>
      </p:sp>
      <p:sp>
        <p:nvSpPr>
          <p:cNvPr id="20" name="TextBox 19"/>
          <p:cNvSpPr txBox="1"/>
          <p:nvPr/>
        </p:nvSpPr>
        <p:spPr>
          <a:xfrm>
            <a:off x="713232" y="3072384"/>
            <a:ext cx="5760720" cy="594360"/>
          </a:xfrm>
          <a:prstGeom prst="rect">
            <a:avLst/>
          </a:prstGeom>
          <a:noFill/>
        </p:spPr>
        <p:txBody>
          <a:bodyPr wrap="square" lIns="36576" rIns="36576" tIns="36576" bIns="36576" anchor="t">
            <a:spAutoFit/>
          </a:bodyPr>
          <a:lstStyle/>
          <a:p>
            <a:pPr>
              <a:spcAft>
                <a:spcPts val="400"/>
              </a:spcAft>
            </a:pPr>
            <a:r>
              <a:rPr sz="1800" b="0">
                <a:solidFill>
                  <a:srgbClr val="AEBECF"/>
                </a:solidFill>
                <a:latin typeface="Aptos"/>
              </a:rPr>
              <a:t>A Sports Analytics and Data Visualization Project</a:t>
            </a:r>
          </a:p>
        </p:txBody>
      </p:sp>
      <p:sp>
        <p:nvSpPr>
          <p:cNvPr id="21" name="Rounded Rectangle 20"/>
          <p:cNvSpPr/>
          <p:nvPr/>
        </p:nvSpPr>
        <p:spPr>
          <a:xfrm>
            <a:off x="713232" y="4005072"/>
            <a:ext cx="5394960" cy="1097280"/>
          </a:xfrm>
          <a:prstGeom prst="roundRect">
            <a:avLst>
              <a:gd name="adj" fmla="val 12000"/>
            </a:avLst>
          </a:prstGeom>
          <a:solidFill>
            <a:srgbClr val="17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8" y="4187952"/>
            <a:ext cx="4983480" cy="777240"/>
          </a:xfrm>
          <a:prstGeom prst="rect">
            <a:avLst/>
          </a:prstGeom>
          <a:noFill/>
        </p:spPr>
        <p:txBody>
          <a:bodyPr wrap="square" lIns="36576" rIns="36576" tIns="36576" bIns="36576" anchor="t">
            <a:spAutoFit/>
          </a:bodyPr>
          <a:lstStyle/>
          <a:p>
            <a:pPr>
              <a:spcAft>
                <a:spcPts val="400"/>
              </a:spcAft>
            </a:pPr>
            <a:r>
              <a:rPr sz="1200" b="0">
                <a:solidFill>
                  <a:srgbClr val="F5F8FC"/>
                </a:solidFill>
                <a:latin typeface="Aptos"/>
              </a:rPr>
              <a:t>Student: Raunak Upadhyay
Course: BBA Business Analytics
College: Babu Banarasi Das University  |  Session: 2026–27</a:t>
            </a:r>
          </a:p>
        </p:txBody>
      </p:sp>
      <p:sp>
        <p:nvSpPr>
          <p:cNvPr id="23" name="TextBox 22"/>
          <p:cNvSpPr txBox="1"/>
          <p:nvPr/>
        </p:nvSpPr>
        <p:spPr>
          <a:xfrm>
            <a:off x="731520" y="6080760"/>
            <a:ext cx="5669280" cy="256032"/>
          </a:xfrm>
          <a:prstGeom prst="rect">
            <a:avLst/>
          </a:prstGeom>
          <a:noFill/>
        </p:spPr>
        <p:txBody>
          <a:bodyPr wrap="square" lIns="36576" rIns="36576" tIns="36576" bIns="36576" anchor="t">
            <a:spAutoFit/>
          </a:bodyPr>
          <a:lstStyle/>
          <a:p>
            <a:pPr>
              <a:spcAft>
                <a:spcPts val="400"/>
              </a:spcAft>
            </a:pPr>
            <a:r>
              <a:rPr sz="1100" b="1">
                <a:solidFill>
                  <a:srgbClr val="FF9141"/>
                </a:solidFill>
                <a:latin typeface="Aptos"/>
              </a:rPr>
              <a:t>A data-led estimate, not a confirmed result.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C1424"/>
        </a:solidFill>
        <a:effectLst/>
      </p:bgPr>
    </p:bg>
    <p:spTree>
      <p:nvGrpSpPr>
        <p:cNvPr id="1" name=""/>
        <p:cNvGrpSpPr/>
        <p:nvPr/>
      </p:nvGrpSpPr>
      <p:grpSpPr/>
      <p:sp>
        <p:nvSpPr>
          <p:cNvPr id="2" name="TextBox 1"/>
          <p:cNvSpPr txBox="1"/>
          <p:nvPr/>
        </p:nvSpPr>
        <p:spPr>
          <a:xfrm>
            <a:off x="594360" y="256032"/>
            <a:ext cx="10881360" cy="475488"/>
          </a:xfrm>
          <a:prstGeom prst="rect">
            <a:avLst/>
          </a:prstGeom>
          <a:noFill/>
        </p:spPr>
        <p:txBody>
          <a:bodyPr wrap="square" lIns="36576" rIns="36576" tIns="36576" bIns="36576" anchor="t">
            <a:spAutoFit/>
          </a:bodyPr>
          <a:lstStyle/>
          <a:p>
            <a:pPr>
              <a:spcAft>
                <a:spcPts val="400"/>
              </a:spcAft>
            </a:pPr>
            <a:r>
              <a:rPr sz="2700" b="1">
                <a:solidFill>
                  <a:srgbClr val="F5F8FC"/>
                </a:solidFill>
                <a:latin typeface="Aptos"/>
              </a:rPr>
              <a:t>Introduction</a:t>
            </a:r>
          </a:p>
        </p:txBody>
      </p:sp>
      <p:sp>
        <p:nvSpPr>
          <p:cNvPr id="3" name="Rectangle 2"/>
          <p:cNvSpPr/>
          <p:nvPr/>
        </p:nvSpPr>
        <p:spPr>
          <a:xfrm>
            <a:off x="603504" y="832104"/>
            <a:ext cx="713232" cy="50292"/>
          </a:xfrm>
          <a:prstGeom prst="rect">
            <a:avLst/>
          </a:prstGeom>
          <a:solidFill>
            <a:srgbClr val="46D2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509760" y="310896"/>
            <a:ext cx="2057400" cy="274320"/>
          </a:xfrm>
          <a:prstGeom prst="rect">
            <a:avLst/>
          </a:prstGeom>
          <a:noFill/>
        </p:spPr>
        <p:txBody>
          <a:bodyPr wrap="square" lIns="36576" rIns="36576" tIns="36576" bIns="36576" anchor="t">
            <a:spAutoFit/>
          </a:bodyPr>
          <a:lstStyle/>
          <a:p>
            <a:pPr algn="r">
              <a:spcAft>
                <a:spcPts val="400"/>
              </a:spcAft>
            </a:pPr>
            <a:r>
              <a:rPr sz="900" b="1">
                <a:solidFill>
                  <a:srgbClr val="46D287"/>
                </a:solidFill>
                <a:latin typeface="Aptos"/>
              </a:rPr>
              <a:t>01 • CONTEXT</a:t>
            </a:r>
          </a:p>
        </p:txBody>
      </p:sp>
      <p:sp>
        <p:nvSpPr>
          <p:cNvPr id="5" name="Rounded Rectangle 4"/>
          <p:cNvSpPr/>
          <p:nvPr/>
        </p:nvSpPr>
        <p:spPr>
          <a:xfrm>
            <a:off x="640080" y="1234440"/>
            <a:ext cx="3520440" cy="1828800"/>
          </a:xfrm>
          <a:prstGeom prst="roundRect">
            <a:avLst>
              <a:gd name="adj" fmla="val 12000"/>
            </a:avLst>
          </a:prstGeom>
          <a:solidFill>
            <a:srgbClr val="17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234440"/>
            <a:ext cx="64008" cy="1828800"/>
          </a:xfrm>
          <a:prstGeom prst="rect">
            <a:avLst/>
          </a:prstGeom>
          <a:solidFill>
            <a:srgbClr val="46D2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1380744"/>
            <a:ext cx="3154680" cy="292608"/>
          </a:xfrm>
          <a:prstGeom prst="rect">
            <a:avLst/>
          </a:prstGeom>
          <a:noFill/>
        </p:spPr>
        <p:txBody>
          <a:bodyPr wrap="square" lIns="36576" rIns="36576" tIns="36576" bIns="36576" anchor="t">
            <a:spAutoFit/>
          </a:bodyPr>
          <a:lstStyle/>
          <a:p>
            <a:pPr>
              <a:spcAft>
                <a:spcPts val="400"/>
              </a:spcAft>
            </a:pPr>
            <a:r>
              <a:rPr sz="1500" b="1">
                <a:solidFill>
                  <a:srgbClr val="46D287"/>
                </a:solidFill>
                <a:latin typeface="Aptos"/>
              </a:rPr>
              <a:t>WHAT IS THE IPL?</a:t>
            </a:r>
          </a:p>
        </p:txBody>
      </p:sp>
      <p:sp>
        <p:nvSpPr>
          <p:cNvPr id="8" name="TextBox 7"/>
          <p:cNvSpPr txBox="1"/>
          <p:nvPr/>
        </p:nvSpPr>
        <p:spPr>
          <a:xfrm>
            <a:off x="841247" y="1737360"/>
            <a:ext cx="3154680" cy="1261872"/>
          </a:xfrm>
          <a:prstGeom prst="rect">
            <a:avLst/>
          </a:prstGeom>
          <a:noFill/>
        </p:spPr>
        <p:txBody>
          <a:bodyPr wrap="square" lIns="36576" rIns="36576" tIns="36576" bIns="36576" anchor="t">
            <a:spAutoFit/>
          </a:bodyPr>
          <a:lstStyle/>
          <a:p>
            <a:pPr>
              <a:spcAft>
                <a:spcPts val="400"/>
              </a:spcAft>
            </a:pPr>
            <a:r>
              <a:rPr sz="1400" b="0">
                <a:solidFill>
                  <a:srgbClr val="F5F8FC"/>
                </a:solidFill>
                <a:latin typeface="Aptos"/>
              </a:rPr>
              <a:t>A professional franchise-based T20 cricket league in India, featuring league matches and playoffs.</a:t>
            </a:r>
          </a:p>
        </p:txBody>
      </p:sp>
      <p:sp>
        <p:nvSpPr>
          <p:cNvPr id="9" name="Rounded Rectangle 8"/>
          <p:cNvSpPr/>
          <p:nvPr/>
        </p:nvSpPr>
        <p:spPr>
          <a:xfrm>
            <a:off x="4343400" y="1234440"/>
            <a:ext cx="3520440" cy="1828800"/>
          </a:xfrm>
          <a:prstGeom prst="roundRect">
            <a:avLst>
              <a:gd name="adj" fmla="val 12000"/>
            </a:avLst>
          </a:prstGeom>
          <a:solidFill>
            <a:srgbClr val="17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43400" y="1234440"/>
            <a:ext cx="64008" cy="1828800"/>
          </a:xfrm>
          <a:prstGeom prst="rect">
            <a:avLst/>
          </a:prstGeom>
          <a:solidFill>
            <a:srgbClr val="FF9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44568" y="1380744"/>
            <a:ext cx="3154680" cy="292608"/>
          </a:xfrm>
          <a:prstGeom prst="rect">
            <a:avLst/>
          </a:prstGeom>
          <a:noFill/>
        </p:spPr>
        <p:txBody>
          <a:bodyPr wrap="square" lIns="36576" rIns="36576" tIns="36576" bIns="36576" anchor="t">
            <a:spAutoFit/>
          </a:bodyPr>
          <a:lstStyle/>
          <a:p>
            <a:pPr>
              <a:spcAft>
                <a:spcPts val="400"/>
              </a:spcAft>
            </a:pPr>
            <a:r>
              <a:rPr sz="1500" b="1">
                <a:solidFill>
                  <a:srgbClr val="FF9141"/>
                </a:solidFill>
                <a:latin typeface="Aptos"/>
              </a:rPr>
              <a:t>WHY ANALYTICS?</a:t>
            </a:r>
          </a:p>
        </p:txBody>
      </p:sp>
      <p:sp>
        <p:nvSpPr>
          <p:cNvPr id="12" name="TextBox 11"/>
          <p:cNvSpPr txBox="1"/>
          <p:nvPr/>
        </p:nvSpPr>
        <p:spPr>
          <a:xfrm>
            <a:off x="4544568" y="1737360"/>
            <a:ext cx="3154680" cy="1261872"/>
          </a:xfrm>
          <a:prstGeom prst="rect">
            <a:avLst/>
          </a:prstGeom>
          <a:noFill/>
        </p:spPr>
        <p:txBody>
          <a:bodyPr wrap="square" lIns="36576" rIns="36576" tIns="36576" bIns="36576" anchor="t">
            <a:spAutoFit/>
          </a:bodyPr>
          <a:lstStyle/>
          <a:p>
            <a:pPr>
              <a:spcAft>
                <a:spcPts val="400"/>
              </a:spcAft>
            </a:pPr>
            <a:r>
              <a:rPr sz="1400" b="0">
                <a:solidFill>
                  <a:srgbClr val="F5F8FC"/>
                </a:solidFill>
                <a:latin typeface="Aptos"/>
              </a:rPr>
              <a:t>It helps compare teams using evidence rather than reputation or a few memorable matches.</a:t>
            </a:r>
          </a:p>
        </p:txBody>
      </p:sp>
      <p:sp>
        <p:nvSpPr>
          <p:cNvPr id="13" name="Rounded Rectangle 12"/>
          <p:cNvSpPr/>
          <p:nvPr/>
        </p:nvSpPr>
        <p:spPr>
          <a:xfrm>
            <a:off x="8046720" y="1234440"/>
            <a:ext cx="3520440" cy="1828800"/>
          </a:xfrm>
          <a:prstGeom prst="roundRect">
            <a:avLst>
              <a:gd name="adj" fmla="val 12000"/>
            </a:avLst>
          </a:prstGeom>
          <a:solidFill>
            <a:srgbClr val="17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6720" y="1234440"/>
            <a:ext cx="64008" cy="1828800"/>
          </a:xfrm>
          <a:prstGeom prst="rect">
            <a:avLst/>
          </a:prstGeom>
          <a:solidFill>
            <a:srgbClr val="4A9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47888" y="1380744"/>
            <a:ext cx="3154680" cy="292608"/>
          </a:xfrm>
          <a:prstGeom prst="rect">
            <a:avLst/>
          </a:prstGeom>
          <a:noFill/>
        </p:spPr>
        <p:txBody>
          <a:bodyPr wrap="square" lIns="36576" rIns="36576" tIns="36576" bIns="36576" anchor="t">
            <a:spAutoFit/>
          </a:bodyPr>
          <a:lstStyle/>
          <a:p>
            <a:pPr>
              <a:spcAft>
                <a:spcPts val="400"/>
              </a:spcAft>
            </a:pPr>
            <a:r>
              <a:rPr sz="1500" b="1">
                <a:solidFill>
                  <a:srgbClr val="4A97FF"/>
                </a:solidFill>
                <a:latin typeface="Aptos"/>
              </a:rPr>
              <a:t>WHY POWER BI?</a:t>
            </a:r>
          </a:p>
        </p:txBody>
      </p:sp>
      <p:sp>
        <p:nvSpPr>
          <p:cNvPr id="16" name="TextBox 15"/>
          <p:cNvSpPr txBox="1"/>
          <p:nvPr/>
        </p:nvSpPr>
        <p:spPr>
          <a:xfrm>
            <a:off x="8247888" y="1737360"/>
            <a:ext cx="3154680" cy="1261872"/>
          </a:xfrm>
          <a:prstGeom prst="rect">
            <a:avLst/>
          </a:prstGeom>
          <a:noFill/>
        </p:spPr>
        <p:txBody>
          <a:bodyPr wrap="square" lIns="36576" rIns="36576" tIns="36576" bIns="36576" anchor="t">
            <a:spAutoFit/>
          </a:bodyPr>
          <a:lstStyle/>
          <a:p>
            <a:pPr>
              <a:spcAft>
                <a:spcPts val="400"/>
              </a:spcAft>
            </a:pPr>
            <a:r>
              <a:rPr sz="1400" b="0">
                <a:solidFill>
                  <a:srgbClr val="F5F8FC"/>
                </a:solidFill>
                <a:latin typeface="Aptos"/>
              </a:rPr>
              <a:t>It turns match records into interactive charts, KPI cards, filters and clear comparisons.</a:t>
            </a:r>
          </a:p>
        </p:txBody>
      </p:sp>
      <p:sp>
        <p:nvSpPr>
          <p:cNvPr id="17" name="Rounded Rectangle 16"/>
          <p:cNvSpPr/>
          <p:nvPr/>
        </p:nvSpPr>
        <p:spPr>
          <a:xfrm>
            <a:off x="777240" y="3794760"/>
            <a:ext cx="2331720" cy="1234440"/>
          </a:xfrm>
          <a:prstGeom prst="roundRect">
            <a:avLst>
              <a:gd name="adj" fmla="val 12000"/>
            </a:avLst>
          </a:prstGeom>
          <a:solidFill>
            <a:srgbClr val="1E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986784"/>
            <a:ext cx="2057400" cy="256032"/>
          </a:xfrm>
          <a:prstGeom prst="rect">
            <a:avLst/>
          </a:prstGeom>
          <a:noFill/>
        </p:spPr>
        <p:txBody>
          <a:bodyPr wrap="square" lIns="36576" rIns="36576" tIns="36576" bIns="36576" anchor="t">
            <a:spAutoFit/>
          </a:bodyPr>
          <a:lstStyle/>
          <a:p>
            <a:pPr algn="ctr">
              <a:spcAft>
                <a:spcPts val="400"/>
              </a:spcAft>
            </a:pPr>
            <a:r>
              <a:rPr sz="1300" b="1">
                <a:solidFill>
                  <a:srgbClr val="46D287"/>
                </a:solidFill>
                <a:latin typeface="Aptos"/>
              </a:rPr>
              <a:t>RAW DATA</a:t>
            </a:r>
          </a:p>
        </p:txBody>
      </p:sp>
      <p:sp>
        <p:nvSpPr>
          <p:cNvPr id="19" name="TextBox 18"/>
          <p:cNvSpPr txBox="1"/>
          <p:nvPr/>
        </p:nvSpPr>
        <p:spPr>
          <a:xfrm>
            <a:off x="914400" y="4343400"/>
            <a:ext cx="2057400" cy="502920"/>
          </a:xfrm>
          <a:prstGeom prst="rect">
            <a:avLst/>
          </a:prstGeom>
          <a:noFill/>
        </p:spPr>
        <p:txBody>
          <a:bodyPr wrap="square" lIns="36576" rIns="36576" tIns="36576" bIns="36576" anchor="t">
            <a:spAutoFit/>
          </a:bodyPr>
          <a:lstStyle/>
          <a:p>
            <a:pPr algn="ctr">
              <a:spcAft>
                <a:spcPts val="400"/>
              </a:spcAft>
            </a:pPr>
            <a:r>
              <a:rPr sz="1200" b="0">
                <a:solidFill>
                  <a:srgbClr val="F5F8FC"/>
                </a:solidFill>
                <a:latin typeface="Aptos"/>
              </a:rPr>
              <a:t>Scores • wickets
results • venues</a:t>
            </a:r>
          </a:p>
        </p:txBody>
      </p:sp>
      <p:sp>
        <p:nvSpPr>
          <p:cNvPr id="20" name="TextBox 19"/>
          <p:cNvSpPr txBox="1"/>
          <p:nvPr/>
        </p:nvSpPr>
        <p:spPr>
          <a:xfrm>
            <a:off x="3172968" y="4233672"/>
            <a:ext cx="411480" cy="320040"/>
          </a:xfrm>
          <a:prstGeom prst="rect">
            <a:avLst/>
          </a:prstGeom>
          <a:noFill/>
        </p:spPr>
        <p:txBody>
          <a:bodyPr wrap="square" lIns="36576" rIns="36576" tIns="36576" bIns="36576" anchor="t">
            <a:spAutoFit/>
          </a:bodyPr>
          <a:lstStyle/>
          <a:p>
            <a:pPr algn="ctr">
              <a:spcAft>
                <a:spcPts val="400"/>
              </a:spcAft>
            </a:pPr>
            <a:r>
              <a:rPr sz="2200" b="1">
                <a:solidFill>
                  <a:srgbClr val="46D287"/>
                </a:solidFill>
                <a:latin typeface="Aptos"/>
              </a:rPr>
              <a:t>→</a:t>
            </a:r>
          </a:p>
        </p:txBody>
      </p:sp>
      <p:sp>
        <p:nvSpPr>
          <p:cNvPr id="21" name="Rounded Rectangle 20"/>
          <p:cNvSpPr/>
          <p:nvPr/>
        </p:nvSpPr>
        <p:spPr>
          <a:xfrm>
            <a:off x="3657600" y="3794760"/>
            <a:ext cx="2331720" cy="1234440"/>
          </a:xfrm>
          <a:prstGeom prst="roundRect">
            <a:avLst>
              <a:gd name="adj" fmla="val 12000"/>
            </a:avLst>
          </a:prstGeom>
          <a:solidFill>
            <a:srgbClr val="1E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94760" y="3986784"/>
            <a:ext cx="2057400" cy="256032"/>
          </a:xfrm>
          <a:prstGeom prst="rect">
            <a:avLst/>
          </a:prstGeom>
          <a:noFill/>
        </p:spPr>
        <p:txBody>
          <a:bodyPr wrap="square" lIns="36576" rIns="36576" tIns="36576" bIns="36576" anchor="t">
            <a:spAutoFit/>
          </a:bodyPr>
          <a:lstStyle/>
          <a:p>
            <a:pPr algn="ctr">
              <a:spcAft>
                <a:spcPts val="400"/>
              </a:spcAft>
            </a:pPr>
            <a:r>
              <a:rPr sz="1300" b="1">
                <a:solidFill>
                  <a:srgbClr val="FF9141"/>
                </a:solidFill>
                <a:latin typeface="Aptos"/>
              </a:rPr>
              <a:t>CLEAN + MODEL</a:t>
            </a:r>
          </a:p>
        </p:txBody>
      </p:sp>
      <p:sp>
        <p:nvSpPr>
          <p:cNvPr id="23" name="TextBox 22"/>
          <p:cNvSpPr txBox="1"/>
          <p:nvPr/>
        </p:nvSpPr>
        <p:spPr>
          <a:xfrm>
            <a:off x="3794760" y="4343400"/>
            <a:ext cx="2057400" cy="502920"/>
          </a:xfrm>
          <a:prstGeom prst="rect">
            <a:avLst/>
          </a:prstGeom>
          <a:noFill/>
        </p:spPr>
        <p:txBody>
          <a:bodyPr wrap="square" lIns="36576" rIns="36576" tIns="36576" bIns="36576" anchor="t">
            <a:spAutoFit/>
          </a:bodyPr>
          <a:lstStyle/>
          <a:p>
            <a:pPr algn="ctr">
              <a:spcAft>
                <a:spcPts val="400"/>
              </a:spcAft>
            </a:pPr>
            <a:r>
              <a:rPr sz="1200" b="0">
                <a:solidFill>
                  <a:srgbClr val="F5F8FC"/>
                </a:solidFill>
                <a:latin typeface="Aptos"/>
              </a:rPr>
              <a:t>Power Query
relationships</a:t>
            </a:r>
          </a:p>
        </p:txBody>
      </p:sp>
      <p:sp>
        <p:nvSpPr>
          <p:cNvPr id="24" name="TextBox 23"/>
          <p:cNvSpPr txBox="1"/>
          <p:nvPr/>
        </p:nvSpPr>
        <p:spPr>
          <a:xfrm>
            <a:off x="6053328" y="4233672"/>
            <a:ext cx="411480" cy="320040"/>
          </a:xfrm>
          <a:prstGeom prst="rect">
            <a:avLst/>
          </a:prstGeom>
          <a:noFill/>
        </p:spPr>
        <p:txBody>
          <a:bodyPr wrap="square" lIns="36576" rIns="36576" tIns="36576" bIns="36576" anchor="t">
            <a:spAutoFit/>
          </a:bodyPr>
          <a:lstStyle/>
          <a:p>
            <a:pPr algn="ctr">
              <a:spcAft>
                <a:spcPts val="400"/>
              </a:spcAft>
            </a:pPr>
            <a:r>
              <a:rPr sz="2200" b="1">
                <a:solidFill>
                  <a:srgbClr val="46D287"/>
                </a:solidFill>
                <a:latin typeface="Aptos"/>
              </a:rPr>
              <a:t>→</a:t>
            </a:r>
          </a:p>
        </p:txBody>
      </p:sp>
      <p:sp>
        <p:nvSpPr>
          <p:cNvPr id="25" name="Rounded Rectangle 24"/>
          <p:cNvSpPr/>
          <p:nvPr/>
        </p:nvSpPr>
        <p:spPr>
          <a:xfrm>
            <a:off x="6537959" y="3794760"/>
            <a:ext cx="2331720" cy="1234440"/>
          </a:xfrm>
          <a:prstGeom prst="roundRect">
            <a:avLst>
              <a:gd name="adj" fmla="val 12000"/>
            </a:avLst>
          </a:prstGeom>
          <a:solidFill>
            <a:srgbClr val="1E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75120" y="3986784"/>
            <a:ext cx="2057400" cy="256032"/>
          </a:xfrm>
          <a:prstGeom prst="rect">
            <a:avLst/>
          </a:prstGeom>
          <a:noFill/>
        </p:spPr>
        <p:txBody>
          <a:bodyPr wrap="square" lIns="36576" rIns="36576" tIns="36576" bIns="36576" anchor="t">
            <a:spAutoFit/>
          </a:bodyPr>
          <a:lstStyle/>
          <a:p>
            <a:pPr algn="ctr">
              <a:spcAft>
                <a:spcPts val="400"/>
              </a:spcAft>
            </a:pPr>
            <a:r>
              <a:rPr sz="1300" b="1">
                <a:solidFill>
                  <a:srgbClr val="4A97FF"/>
                </a:solidFill>
                <a:latin typeface="Aptos"/>
              </a:rPr>
              <a:t>INSIGHTS</a:t>
            </a:r>
          </a:p>
        </p:txBody>
      </p:sp>
      <p:sp>
        <p:nvSpPr>
          <p:cNvPr id="27" name="TextBox 26"/>
          <p:cNvSpPr txBox="1"/>
          <p:nvPr/>
        </p:nvSpPr>
        <p:spPr>
          <a:xfrm>
            <a:off x="6675120" y="4343400"/>
            <a:ext cx="2057400" cy="502920"/>
          </a:xfrm>
          <a:prstGeom prst="rect">
            <a:avLst/>
          </a:prstGeom>
          <a:noFill/>
        </p:spPr>
        <p:txBody>
          <a:bodyPr wrap="square" lIns="36576" rIns="36576" tIns="36576" bIns="36576" anchor="t">
            <a:spAutoFit/>
          </a:bodyPr>
          <a:lstStyle/>
          <a:p>
            <a:pPr algn="ctr">
              <a:spcAft>
                <a:spcPts val="400"/>
              </a:spcAft>
            </a:pPr>
            <a:r>
              <a:rPr sz="1200" b="0">
                <a:solidFill>
                  <a:srgbClr val="F5F8FC"/>
                </a:solidFill>
                <a:latin typeface="Aptos"/>
              </a:rPr>
              <a:t>KPIs • trends
team comparisons</a:t>
            </a:r>
          </a:p>
        </p:txBody>
      </p:sp>
      <p:sp>
        <p:nvSpPr>
          <p:cNvPr id="28" name="TextBox 27"/>
          <p:cNvSpPr txBox="1"/>
          <p:nvPr/>
        </p:nvSpPr>
        <p:spPr>
          <a:xfrm>
            <a:off x="8933688" y="4233672"/>
            <a:ext cx="411480" cy="320040"/>
          </a:xfrm>
          <a:prstGeom prst="rect">
            <a:avLst/>
          </a:prstGeom>
          <a:noFill/>
        </p:spPr>
        <p:txBody>
          <a:bodyPr wrap="square" lIns="36576" rIns="36576" tIns="36576" bIns="36576" anchor="t">
            <a:spAutoFit/>
          </a:bodyPr>
          <a:lstStyle/>
          <a:p>
            <a:pPr algn="ctr">
              <a:spcAft>
                <a:spcPts val="400"/>
              </a:spcAft>
            </a:pPr>
            <a:r>
              <a:rPr sz="2200" b="1">
                <a:solidFill>
                  <a:srgbClr val="46D287"/>
                </a:solidFill>
                <a:latin typeface="Aptos"/>
              </a:rPr>
              <a:t>→</a:t>
            </a:r>
          </a:p>
        </p:txBody>
      </p:sp>
      <p:sp>
        <p:nvSpPr>
          <p:cNvPr id="29" name="Rounded Rectangle 28"/>
          <p:cNvSpPr/>
          <p:nvPr/>
        </p:nvSpPr>
        <p:spPr>
          <a:xfrm>
            <a:off x="9418319" y="3794760"/>
            <a:ext cx="2331720" cy="1234440"/>
          </a:xfrm>
          <a:prstGeom prst="roundRect">
            <a:avLst>
              <a:gd name="adj" fmla="val 12000"/>
            </a:avLst>
          </a:prstGeom>
          <a:solidFill>
            <a:srgbClr val="1E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555480" y="3986784"/>
            <a:ext cx="2057400" cy="256032"/>
          </a:xfrm>
          <a:prstGeom prst="rect">
            <a:avLst/>
          </a:prstGeom>
          <a:noFill/>
        </p:spPr>
        <p:txBody>
          <a:bodyPr wrap="square" lIns="36576" rIns="36576" tIns="36576" bIns="36576" anchor="t">
            <a:spAutoFit/>
          </a:bodyPr>
          <a:lstStyle/>
          <a:p>
            <a:pPr algn="ctr">
              <a:spcAft>
                <a:spcPts val="400"/>
              </a:spcAft>
            </a:pPr>
            <a:r>
              <a:rPr sz="1300" b="1">
                <a:solidFill>
                  <a:srgbClr val="FFD055"/>
                </a:solidFill>
                <a:latin typeface="Aptos"/>
              </a:rPr>
              <a:t>ESTIMATE</a:t>
            </a:r>
          </a:p>
        </p:txBody>
      </p:sp>
      <p:sp>
        <p:nvSpPr>
          <p:cNvPr id="31" name="TextBox 30"/>
          <p:cNvSpPr txBox="1"/>
          <p:nvPr/>
        </p:nvSpPr>
        <p:spPr>
          <a:xfrm>
            <a:off x="9555480" y="4343400"/>
            <a:ext cx="2057400" cy="502920"/>
          </a:xfrm>
          <a:prstGeom prst="rect">
            <a:avLst/>
          </a:prstGeom>
          <a:noFill/>
        </p:spPr>
        <p:txBody>
          <a:bodyPr wrap="square" lIns="36576" rIns="36576" tIns="36576" bIns="36576" anchor="t">
            <a:spAutoFit/>
          </a:bodyPr>
          <a:lstStyle/>
          <a:p>
            <a:pPr algn="ctr">
              <a:spcAft>
                <a:spcPts val="400"/>
              </a:spcAft>
            </a:pPr>
            <a:r>
              <a:rPr sz="1200" b="0">
                <a:solidFill>
                  <a:srgbClr val="F5F8FC"/>
                </a:solidFill>
                <a:latin typeface="Aptos"/>
              </a:rPr>
              <a:t>Transparent model
with uncertainty</a:t>
            </a:r>
          </a:p>
        </p:txBody>
      </p:sp>
      <p:sp>
        <p:nvSpPr>
          <p:cNvPr id="32" name="TextBox 31"/>
          <p:cNvSpPr txBox="1"/>
          <p:nvPr/>
        </p:nvSpPr>
        <p:spPr>
          <a:xfrm>
            <a:off x="822960" y="5532120"/>
            <a:ext cx="10607040" cy="457200"/>
          </a:xfrm>
          <a:prstGeom prst="rect">
            <a:avLst/>
          </a:prstGeom>
          <a:noFill/>
        </p:spPr>
        <p:txBody>
          <a:bodyPr wrap="square" lIns="36576" rIns="36576" tIns="36576" bIns="36576" anchor="t">
            <a:spAutoFit/>
          </a:bodyPr>
          <a:lstStyle/>
          <a:p>
            <a:pPr algn="ctr">
              <a:spcAft>
                <a:spcPts val="400"/>
              </a:spcAft>
            </a:pPr>
            <a:r>
              <a:rPr sz="1700" b="1">
                <a:solidFill>
                  <a:srgbClr val="F5F8FC"/>
                </a:solidFill>
                <a:latin typeface="Aptos"/>
              </a:rPr>
              <a:t>Historical patterns can inform decisions, but cricket remains uncertain.</a:t>
            </a:r>
          </a:p>
        </p:txBody>
      </p:sp>
      <p:sp>
        <p:nvSpPr>
          <p:cNvPr id="33" name="TextBox 32"/>
          <p:cNvSpPr txBox="1"/>
          <p:nvPr/>
        </p:nvSpPr>
        <p:spPr>
          <a:xfrm>
            <a:off x="621792" y="6519672"/>
            <a:ext cx="8778240" cy="164592"/>
          </a:xfrm>
          <a:prstGeom prst="rect">
            <a:avLst/>
          </a:prstGeom>
          <a:noFill/>
        </p:spPr>
        <p:txBody>
          <a:bodyPr wrap="square" lIns="36576" rIns="36576" tIns="36576" bIns="36576" anchor="t">
            <a:spAutoFit/>
          </a:bodyPr>
          <a:lstStyle/>
          <a:p>
            <a:pPr>
              <a:spcAft>
                <a:spcPts val="400"/>
              </a:spcAft>
            </a:pPr>
            <a:r>
              <a:rPr sz="800" b="0">
                <a:solidFill>
                  <a:srgbClr val="AEBECF"/>
                </a:solidFill>
                <a:latin typeface="Aptos"/>
              </a:rPr>
              <a:t>IPL 2027 WINNER PREDICTION  •  SPORTS ANALYTICS PROJECT</a:t>
            </a:r>
          </a:p>
        </p:txBody>
      </p:sp>
      <p:sp>
        <p:nvSpPr>
          <p:cNvPr id="34" name="TextBox 33"/>
          <p:cNvSpPr txBox="1"/>
          <p:nvPr/>
        </p:nvSpPr>
        <p:spPr>
          <a:xfrm>
            <a:off x="10972800" y="6492240"/>
            <a:ext cx="548640" cy="201168"/>
          </a:xfrm>
          <a:prstGeom prst="rect">
            <a:avLst/>
          </a:prstGeom>
          <a:noFill/>
        </p:spPr>
        <p:txBody>
          <a:bodyPr wrap="square" lIns="36576" rIns="36576" tIns="36576" bIns="36576" anchor="t">
            <a:spAutoFit/>
          </a:bodyPr>
          <a:lstStyle/>
          <a:p>
            <a:pPr algn="r">
              <a:spcAft>
                <a:spcPts val="400"/>
              </a:spcAft>
            </a:pPr>
            <a:r>
              <a:rPr sz="900" b="0">
                <a:solidFill>
                  <a:srgbClr val="AEBECF"/>
                </a:solidFill>
                <a:latin typeface="Aptos"/>
              </a:rPr>
              <a:t>02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C1424"/>
        </a:solidFill>
        <a:effectLst/>
      </p:bgPr>
    </p:bg>
    <p:spTree>
      <p:nvGrpSpPr>
        <p:cNvPr id="1" name=""/>
        <p:cNvGrpSpPr/>
        <p:nvPr/>
      </p:nvGrpSpPr>
      <p:grpSpPr/>
      <p:sp>
        <p:nvSpPr>
          <p:cNvPr id="2" name="TextBox 1"/>
          <p:cNvSpPr txBox="1"/>
          <p:nvPr/>
        </p:nvSpPr>
        <p:spPr>
          <a:xfrm>
            <a:off x="594360" y="256032"/>
            <a:ext cx="10881360" cy="475488"/>
          </a:xfrm>
          <a:prstGeom prst="rect">
            <a:avLst/>
          </a:prstGeom>
          <a:noFill/>
        </p:spPr>
        <p:txBody>
          <a:bodyPr wrap="square" lIns="36576" rIns="36576" tIns="36576" bIns="36576" anchor="t">
            <a:spAutoFit/>
          </a:bodyPr>
          <a:lstStyle/>
          <a:p>
            <a:pPr>
              <a:spcAft>
                <a:spcPts val="400"/>
              </a:spcAft>
            </a:pPr>
            <a:r>
              <a:rPr sz="2700" b="1">
                <a:solidFill>
                  <a:srgbClr val="F5F8FC"/>
                </a:solidFill>
                <a:latin typeface="Aptos"/>
              </a:rPr>
              <a:t>Problem Statement &amp; Objectives</a:t>
            </a:r>
          </a:p>
        </p:txBody>
      </p:sp>
      <p:sp>
        <p:nvSpPr>
          <p:cNvPr id="3" name="Rectangle 2"/>
          <p:cNvSpPr/>
          <p:nvPr/>
        </p:nvSpPr>
        <p:spPr>
          <a:xfrm>
            <a:off x="603504" y="832104"/>
            <a:ext cx="713232" cy="50292"/>
          </a:xfrm>
          <a:prstGeom prst="rect">
            <a:avLst/>
          </a:prstGeom>
          <a:solidFill>
            <a:srgbClr val="46D2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509760" y="310896"/>
            <a:ext cx="2057400" cy="274320"/>
          </a:xfrm>
          <a:prstGeom prst="rect">
            <a:avLst/>
          </a:prstGeom>
          <a:noFill/>
        </p:spPr>
        <p:txBody>
          <a:bodyPr wrap="square" lIns="36576" rIns="36576" tIns="36576" bIns="36576" anchor="t">
            <a:spAutoFit/>
          </a:bodyPr>
          <a:lstStyle/>
          <a:p>
            <a:pPr algn="r">
              <a:spcAft>
                <a:spcPts val="400"/>
              </a:spcAft>
            </a:pPr>
            <a:r>
              <a:rPr sz="900" b="1">
                <a:solidFill>
                  <a:srgbClr val="46D287"/>
                </a:solidFill>
                <a:latin typeface="Aptos"/>
              </a:rPr>
              <a:t>02 • PROJECT BRIEF</a:t>
            </a:r>
          </a:p>
        </p:txBody>
      </p:sp>
      <p:sp>
        <p:nvSpPr>
          <p:cNvPr id="5" name="Rounded Rectangle 4"/>
          <p:cNvSpPr/>
          <p:nvPr/>
        </p:nvSpPr>
        <p:spPr>
          <a:xfrm>
            <a:off x="685800" y="1234440"/>
            <a:ext cx="4754880" cy="4480560"/>
          </a:xfrm>
          <a:prstGeom prst="roundRect">
            <a:avLst>
              <a:gd name="adj" fmla="val 12000"/>
            </a:avLst>
          </a:prstGeom>
          <a:solidFill>
            <a:srgbClr val="17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508760"/>
            <a:ext cx="4206240" cy="365760"/>
          </a:xfrm>
          <a:prstGeom prst="rect">
            <a:avLst/>
          </a:prstGeom>
          <a:noFill/>
        </p:spPr>
        <p:txBody>
          <a:bodyPr wrap="square" lIns="36576" rIns="36576" tIns="36576" bIns="36576" anchor="t">
            <a:spAutoFit/>
          </a:bodyPr>
          <a:lstStyle/>
          <a:p>
            <a:pPr>
              <a:spcAft>
                <a:spcPts val="400"/>
              </a:spcAft>
            </a:pPr>
            <a:r>
              <a:rPr sz="1700" b="1">
                <a:solidFill>
                  <a:srgbClr val="FF9141"/>
                </a:solidFill>
                <a:latin typeface="Aptos"/>
              </a:rPr>
              <a:t>THE CHALLENGE</a:t>
            </a:r>
          </a:p>
        </p:txBody>
      </p:sp>
      <p:sp>
        <p:nvSpPr>
          <p:cNvPr id="7" name="TextBox 6"/>
          <p:cNvSpPr txBox="1"/>
          <p:nvPr/>
        </p:nvSpPr>
        <p:spPr>
          <a:xfrm>
            <a:off x="960120" y="2011680"/>
            <a:ext cx="4069080" cy="1828800"/>
          </a:xfrm>
          <a:prstGeom prst="rect">
            <a:avLst/>
          </a:prstGeom>
          <a:noFill/>
        </p:spPr>
        <p:txBody>
          <a:bodyPr wrap="square" lIns="36576" rIns="36576" tIns="36576" bIns="36576" anchor="t">
            <a:spAutoFit/>
          </a:bodyPr>
          <a:lstStyle/>
          <a:p>
            <a:pPr>
              <a:spcAft>
                <a:spcPts val="400"/>
              </a:spcAft>
            </a:pPr>
            <a:r>
              <a:rPr sz="2000" b="1">
                <a:solidFill>
                  <a:srgbClr val="F5F8FC"/>
                </a:solidFill>
                <a:latin typeface="Aptos"/>
              </a:rPr>
              <a:t>A team's result depends on many changing factors: batting, bowling, squad balance, player availability, venue and match conditions.</a:t>
            </a:r>
          </a:p>
        </p:txBody>
      </p:sp>
      <p:sp>
        <p:nvSpPr>
          <p:cNvPr id="8" name="TextBox 7"/>
          <p:cNvSpPr txBox="1"/>
          <p:nvPr/>
        </p:nvSpPr>
        <p:spPr>
          <a:xfrm>
            <a:off x="960120" y="4251960"/>
            <a:ext cx="4023360" cy="777240"/>
          </a:xfrm>
          <a:prstGeom prst="rect">
            <a:avLst/>
          </a:prstGeom>
          <a:noFill/>
        </p:spPr>
        <p:txBody>
          <a:bodyPr wrap="square" lIns="36576" rIns="36576" tIns="36576" bIns="36576" anchor="t">
            <a:spAutoFit/>
          </a:bodyPr>
          <a:lstStyle/>
          <a:p>
            <a:pPr>
              <a:spcAft>
                <a:spcPts val="400"/>
              </a:spcAft>
            </a:pPr>
            <a:r>
              <a:rPr sz="1400" b="0">
                <a:solidFill>
                  <a:srgbClr val="AEBECF"/>
                </a:solidFill>
                <a:latin typeface="Aptos"/>
              </a:rPr>
              <a:t>No single statistic can reliably identify a future champion.</a:t>
            </a:r>
          </a:p>
        </p:txBody>
      </p:sp>
      <p:sp>
        <p:nvSpPr>
          <p:cNvPr id="9" name="TextBox 8"/>
          <p:cNvSpPr txBox="1"/>
          <p:nvPr/>
        </p:nvSpPr>
        <p:spPr>
          <a:xfrm>
            <a:off x="5897880" y="1325880"/>
            <a:ext cx="5212080" cy="365760"/>
          </a:xfrm>
          <a:prstGeom prst="rect">
            <a:avLst/>
          </a:prstGeom>
          <a:noFill/>
        </p:spPr>
        <p:txBody>
          <a:bodyPr wrap="square" lIns="36576" rIns="36576" tIns="36576" bIns="36576" anchor="t">
            <a:spAutoFit/>
          </a:bodyPr>
          <a:lstStyle/>
          <a:p>
            <a:pPr>
              <a:spcAft>
                <a:spcPts val="400"/>
              </a:spcAft>
            </a:pPr>
            <a:r>
              <a:rPr sz="1700" b="1">
                <a:solidFill>
                  <a:srgbClr val="46D287"/>
                </a:solidFill>
                <a:latin typeface="Aptos"/>
              </a:rPr>
              <a:t>PROJECT OBJECTIVES</a:t>
            </a:r>
          </a:p>
        </p:txBody>
      </p:sp>
      <p:sp>
        <p:nvSpPr>
          <p:cNvPr id="10" name="Oval 9"/>
          <p:cNvSpPr/>
          <p:nvPr/>
        </p:nvSpPr>
        <p:spPr>
          <a:xfrm>
            <a:off x="5925312" y="1947672"/>
            <a:ext cx="100584" cy="100584"/>
          </a:xfrm>
          <a:prstGeom prst="ellipse">
            <a:avLst/>
          </a:prstGeom>
          <a:solidFill>
            <a:srgbClr val="46D2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0" y="1874519"/>
            <a:ext cx="5102352" cy="649224"/>
          </a:xfrm>
          <a:prstGeom prst="rect">
            <a:avLst/>
          </a:prstGeom>
          <a:noFill/>
        </p:spPr>
        <p:txBody>
          <a:bodyPr wrap="square" lIns="36576" rIns="36576" tIns="36576" bIns="36576" anchor="t">
            <a:spAutoFit/>
          </a:bodyPr>
          <a:lstStyle/>
          <a:p>
            <a:pPr>
              <a:spcAft>
                <a:spcPts val="400"/>
              </a:spcAft>
            </a:pPr>
            <a:r>
              <a:rPr sz="1500" b="0">
                <a:solidFill>
                  <a:srgbClr val="F5F8FC"/>
                </a:solidFill>
                <a:latin typeface="Aptos"/>
              </a:rPr>
              <a:t>Analyze historical IPL match and delivery data.</a:t>
            </a:r>
          </a:p>
        </p:txBody>
      </p:sp>
      <p:sp>
        <p:nvSpPr>
          <p:cNvPr id="12" name="Oval 11"/>
          <p:cNvSpPr/>
          <p:nvPr/>
        </p:nvSpPr>
        <p:spPr>
          <a:xfrm>
            <a:off x="5925312" y="2633472"/>
            <a:ext cx="100584" cy="100584"/>
          </a:xfrm>
          <a:prstGeom prst="ellipse">
            <a:avLst/>
          </a:prstGeom>
          <a:solidFill>
            <a:srgbClr val="46D2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26480" y="2560320"/>
            <a:ext cx="5102352" cy="649224"/>
          </a:xfrm>
          <a:prstGeom prst="rect">
            <a:avLst/>
          </a:prstGeom>
          <a:noFill/>
        </p:spPr>
        <p:txBody>
          <a:bodyPr wrap="square" lIns="36576" rIns="36576" tIns="36576" bIns="36576" anchor="t">
            <a:spAutoFit/>
          </a:bodyPr>
          <a:lstStyle/>
          <a:p>
            <a:pPr>
              <a:spcAft>
                <a:spcPts val="400"/>
              </a:spcAft>
            </a:pPr>
            <a:r>
              <a:rPr sz="1500" b="0">
                <a:solidFill>
                  <a:srgbClr val="F5F8FC"/>
                </a:solidFill>
                <a:latin typeface="Aptos"/>
              </a:rPr>
              <a:t>Compare teams across seasons and venues.</a:t>
            </a:r>
          </a:p>
        </p:txBody>
      </p:sp>
      <p:sp>
        <p:nvSpPr>
          <p:cNvPr id="14" name="Oval 13"/>
          <p:cNvSpPr/>
          <p:nvPr/>
        </p:nvSpPr>
        <p:spPr>
          <a:xfrm>
            <a:off x="5925312" y="3319272"/>
            <a:ext cx="100584" cy="100584"/>
          </a:xfrm>
          <a:prstGeom prst="ellipse">
            <a:avLst/>
          </a:prstGeom>
          <a:solidFill>
            <a:srgbClr val="46D2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0" y="3246120"/>
            <a:ext cx="5102352" cy="649224"/>
          </a:xfrm>
          <a:prstGeom prst="rect">
            <a:avLst/>
          </a:prstGeom>
          <a:noFill/>
        </p:spPr>
        <p:txBody>
          <a:bodyPr wrap="square" lIns="36576" rIns="36576" tIns="36576" bIns="36576" anchor="t">
            <a:spAutoFit/>
          </a:bodyPr>
          <a:lstStyle/>
          <a:p>
            <a:pPr>
              <a:spcAft>
                <a:spcPts val="400"/>
              </a:spcAft>
            </a:pPr>
            <a:r>
              <a:rPr sz="1500" b="0">
                <a:solidFill>
                  <a:srgbClr val="F5F8FC"/>
                </a:solidFill>
                <a:latin typeface="Aptos"/>
              </a:rPr>
              <a:t>Define consistent performance indicators (KPIs).</a:t>
            </a:r>
          </a:p>
        </p:txBody>
      </p:sp>
      <p:sp>
        <p:nvSpPr>
          <p:cNvPr id="16" name="Oval 15"/>
          <p:cNvSpPr/>
          <p:nvPr/>
        </p:nvSpPr>
        <p:spPr>
          <a:xfrm>
            <a:off x="5925312" y="4005072"/>
            <a:ext cx="100584" cy="100584"/>
          </a:xfrm>
          <a:prstGeom prst="ellipse">
            <a:avLst/>
          </a:prstGeom>
          <a:solidFill>
            <a:srgbClr val="46D2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6480" y="3931920"/>
            <a:ext cx="5102352" cy="649224"/>
          </a:xfrm>
          <a:prstGeom prst="rect">
            <a:avLst/>
          </a:prstGeom>
          <a:noFill/>
        </p:spPr>
        <p:txBody>
          <a:bodyPr wrap="square" lIns="36576" rIns="36576" tIns="36576" bIns="36576" anchor="t">
            <a:spAutoFit/>
          </a:bodyPr>
          <a:lstStyle/>
          <a:p>
            <a:pPr>
              <a:spcAft>
                <a:spcPts val="400"/>
              </a:spcAft>
            </a:pPr>
            <a:r>
              <a:rPr sz="1500" b="0">
                <a:solidFill>
                  <a:srgbClr val="F5F8FC"/>
                </a:solidFill>
                <a:latin typeface="Aptos"/>
              </a:rPr>
              <a:t>Build an interactive Power BI dashboard.</a:t>
            </a:r>
          </a:p>
        </p:txBody>
      </p:sp>
      <p:sp>
        <p:nvSpPr>
          <p:cNvPr id="18" name="Oval 17"/>
          <p:cNvSpPr/>
          <p:nvPr/>
        </p:nvSpPr>
        <p:spPr>
          <a:xfrm>
            <a:off x="5925312" y="4690872"/>
            <a:ext cx="100584" cy="100584"/>
          </a:xfrm>
          <a:prstGeom prst="ellipse">
            <a:avLst/>
          </a:prstGeom>
          <a:solidFill>
            <a:srgbClr val="46D2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26480" y="4617720"/>
            <a:ext cx="5102352" cy="649224"/>
          </a:xfrm>
          <a:prstGeom prst="rect">
            <a:avLst/>
          </a:prstGeom>
          <a:noFill/>
        </p:spPr>
        <p:txBody>
          <a:bodyPr wrap="square" lIns="36576" rIns="36576" tIns="36576" bIns="36576" anchor="t">
            <a:spAutoFit/>
          </a:bodyPr>
          <a:lstStyle/>
          <a:p>
            <a:pPr>
              <a:spcAft>
                <a:spcPts val="400"/>
              </a:spcAft>
            </a:pPr>
            <a:r>
              <a:rPr sz="1500" b="0">
                <a:solidFill>
                  <a:srgbClr val="F5F8FC"/>
                </a:solidFill>
                <a:latin typeface="Aptos"/>
              </a:rPr>
              <a:t>Estimate contenders using a transparent method.</a:t>
            </a:r>
          </a:p>
        </p:txBody>
      </p:sp>
      <p:sp>
        <p:nvSpPr>
          <p:cNvPr id="20" name="TextBox 19"/>
          <p:cNvSpPr txBox="1"/>
          <p:nvPr/>
        </p:nvSpPr>
        <p:spPr>
          <a:xfrm>
            <a:off x="621792" y="6519672"/>
            <a:ext cx="8778240" cy="164592"/>
          </a:xfrm>
          <a:prstGeom prst="rect">
            <a:avLst/>
          </a:prstGeom>
          <a:noFill/>
        </p:spPr>
        <p:txBody>
          <a:bodyPr wrap="square" lIns="36576" rIns="36576" tIns="36576" bIns="36576" anchor="t">
            <a:spAutoFit/>
          </a:bodyPr>
          <a:lstStyle/>
          <a:p>
            <a:pPr>
              <a:spcAft>
                <a:spcPts val="400"/>
              </a:spcAft>
            </a:pPr>
            <a:r>
              <a:rPr sz="800" b="0">
                <a:solidFill>
                  <a:srgbClr val="AEBECF"/>
                </a:solidFill>
                <a:latin typeface="Aptos"/>
              </a:rPr>
              <a:t>IPL 2027 WINNER PREDICTION  •  SPORTS ANALYTICS PROJECT</a:t>
            </a:r>
          </a:p>
        </p:txBody>
      </p:sp>
      <p:sp>
        <p:nvSpPr>
          <p:cNvPr id="21" name="TextBox 20"/>
          <p:cNvSpPr txBox="1"/>
          <p:nvPr/>
        </p:nvSpPr>
        <p:spPr>
          <a:xfrm>
            <a:off x="10972800" y="6492240"/>
            <a:ext cx="548640" cy="201168"/>
          </a:xfrm>
          <a:prstGeom prst="rect">
            <a:avLst/>
          </a:prstGeom>
          <a:noFill/>
        </p:spPr>
        <p:txBody>
          <a:bodyPr wrap="square" lIns="36576" rIns="36576" tIns="36576" bIns="36576" anchor="t">
            <a:spAutoFit/>
          </a:bodyPr>
          <a:lstStyle/>
          <a:p>
            <a:pPr algn="r">
              <a:spcAft>
                <a:spcPts val="400"/>
              </a:spcAft>
            </a:pPr>
            <a:r>
              <a:rPr sz="900" b="0">
                <a:solidFill>
                  <a:srgbClr val="AEBECF"/>
                </a:solidFill>
                <a:latin typeface="Aptos"/>
              </a:rPr>
              <a:t>03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C1424"/>
        </a:solidFill>
        <a:effectLst/>
      </p:bgPr>
    </p:bg>
    <p:spTree>
      <p:nvGrpSpPr>
        <p:cNvPr id="1" name=""/>
        <p:cNvGrpSpPr/>
        <p:nvPr/>
      </p:nvGrpSpPr>
      <p:grpSpPr/>
      <p:sp>
        <p:nvSpPr>
          <p:cNvPr id="2" name="TextBox 1"/>
          <p:cNvSpPr txBox="1"/>
          <p:nvPr/>
        </p:nvSpPr>
        <p:spPr>
          <a:xfrm>
            <a:off x="594360" y="256032"/>
            <a:ext cx="10881360" cy="475488"/>
          </a:xfrm>
          <a:prstGeom prst="rect">
            <a:avLst/>
          </a:prstGeom>
          <a:noFill/>
        </p:spPr>
        <p:txBody>
          <a:bodyPr wrap="square" lIns="36576" rIns="36576" tIns="36576" bIns="36576" anchor="t">
            <a:spAutoFit/>
          </a:bodyPr>
          <a:lstStyle/>
          <a:p>
            <a:pPr>
              <a:spcAft>
                <a:spcPts val="400"/>
              </a:spcAft>
            </a:pPr>
            <a:r>
              <a:rPr sz="2700" b="1">
                <a:solidFill>
                  <a:srgbClr val="F5F8FC"/>
                </a:solidFill>
                <a:latin typeface="Aptos"/>
              </a:rPr>
              <a:t>Dataset &amp; Data Sources</a:t>
            </a:r>
          </a:p>
        </p:txBody>
      </p:sp>
      <p:sp>
        <p:nvSpPr>
          <p:cNvPr id="3" name="Rectangle 2"/>
          <p:cNvSpPr/>
          <p:nvPr/>
        </p:nvSpPr>
        <p:spPr>
          <a:xfrm>
            <a:off x="603504" y="832104"/>
            <a:ext cx="713232" cy="50292"/>
          </a:xfrm>
          <a:prstGeom prst="rect">
            <a:avLst/>
          </a:prstGeom>
          <a:solidFill>
            <a:srgbClr val="46D2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509760" y="310896"/>
            <a:ext cx="2057400" cy="274320"/>
          </a:xfrm>
          <a:prstGeom prst="rect">
            <a:avLst/>
          </a:prstGeom>
          <a:noFill/>
        </p:spPr>
        <p:txBody>
          <a:bodyPr wrap="square" lIns="36576" rIns="36576" tIns="36576" bIns="36576" anchor="t">
            <a:spAutoFit/>
          </a:bodyPr>
          <a:lstStyle/>
          <a:p>
            <a:pPr algn="r">
              <a:spcAft>
                <a:spcPts val="400"/>
              </a:spcAft>
            </a:pPr>
            <a:r>
              <a:rPr sz="900" b="1">
                <a:solidFill>
                  <a:srgbClr val="46D287"/>
                </a:solidFill>
                <a:latin typeface="Aptos"/>
              </a:rPr>
              <a:t>03 • DATA</a:t>
            </a:r>
          </a:p>
        </p:txBody>
      </p:sp>
      <p:sp>
        <p:nvSpPr>
          <p:cNvPr id="5" name="TextBox 4"/>
          <p:cNvSpPr txBox="1"/>
          <p:nvPr/>
        </p:nvSpPr>
        <p:spPr>
          <a:xfrm>
            <a:off x="685800" y="1188720"/>
            <a:ext cx="5029200" cy="320040"/>
          </a:xfrm>
          <a:prstGeom prst="rect">
            <a:avLst/>
          </a:prstGeom>
          <a:noFill/>
        </p:spPr>
        <p:txBody>
          <a:bodyPr wrap="square" lIns="36576" rIns="36576" tIns="36576" bIns="36576" anchor="t">
            <a:spAutoFit/>
          </a:bodyPr>
          <a:lstStyle/>
          <a:p>
            <a:pPr>
              <a:spcAft>
                <a:spcPts val="400"/>
              </a:spcAft>
            </a:pPr>
            <a:r>
              <a:rPr sz="1500" b="1">
                <a:solidFill>
                  <a:srgbClr val="46D287"/>
                </a:solidFill>
                <a:latin typeface="Aptos"/>
              </a:rPr>
              <a:t>TWO CORE TABLES</a:t>
            </a:r>
          </a:p>
        </p:txBody>
      </p:sp>
      <p:sp>
        <p:nvSpPr>
          <p:cNvPr id="6" name="Rounded Rectangle 5"/>
          <p:cNvSpPr/>
          <p:nvPr/>
        </p:nvSpPr>
        <p:spPr>
          <a:xfrm>
            <a:off x="685800" y="1627632"/>
            <a:ext cx="4983480" cy="1143000"/>
          </a:xfrm>
          <a:prstGeom prst="roundRect">
            <a:avLst>
              <a:gd name="adj" fmla="val 12000"/>
            </a:avLst>
          </a:prstGeom>
          <a:solidFill>
            <a:srgbClr val="17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627632"/>
            <a:ext cx="64008" cy="1143000"/>
          </a:xfrm>
          <a:prstGeom prst="rect">
            <a:avLst/>
          </a:prstGeom>
          <a:solidFill>
            <a:srgbClr val="46D2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73936"/>
            <a:ext cx="4617720" cy="292608"/>
          </a:xfrm>
          <a:prstGeom prst="rect">
            <a:avLst/>
          </a:prstGeom>
          <a:noFill/>
        </p:spPr>
        <p:txBody>
          <a:bodyPr wrap="square" lIns="36576" rIns="36576" tIns="36576" bIns="36576" anchor="t">
            <a:spAutoFit/>
          </a:bodyPr>
          <a:lstStyle/>
          <a:p>
            <a:pPr>
              <a:spcAft>
                <a:spcPts val="400"/>
              </a:spcAft>
            </a:pPr>
            <a:r>
              <a:rPr sz="1300" b="1">
                <a:solidFill>
                  <a:srgbClr val="46D287"/>
                </a:solidFill>
                <a:latin typeface="Aptos"/>
              </a:rPr>
              <a:t>MATCHES TABLE</a:t>
            </a:r>
          </a:p>
        </p:txBody>
      </p:sp>
      <p:sp>
        <p:nvSpPr>
          <p:cNvPr id="9" name="TextBox 8"/>
          <p:cNvSpPr txBox="1"/>
          <p:nvPr/>
        </p:nvSpPr>
        <p:spPr>
          <a:xfrm>
            <a:off x="886968" y="2130552"/>
            <a:ext cx="4617720" cy="576072"/>
          </a:xfrm>
          <a:prstGeom prst="rect">
            <a:avLst/>
          </a:prstGeom>
          <a:noFill/>
        </p:spPr>
        <p:txBody>
          <a:bodyPr wrap="square" lIns="36576" rIns="36576" tIns="36576" bIns="36576" anchor="t">
            <a:spAutoFit/>
          </a:bodyPr>
          <a:lstStyle/>
          <a:p>
            <a:pPr>
              <a:spcAft>
                <a:spcPts val="400"/>
              </a:spcAft>
            </a:pPr>
            <a:r>
              <a:rPr sz="1200" b="0">
                <a:solidFill>
                  <a:srgbClr val="F5F8FC"/>
                </a:solidFill>
                <a:latin typeface="Aptos"/>
              </a:rPr>
              <a:t>One row per match: season, date, teams, venue, toss, winner and result.</a:t>
            </a:r>
          </a:p>
        </p:txBody>
      </p:sp>
      <p:sp>
        <p:nvSpPr>
          <p:cNvPr id="10" name="Rounded Rectangle 9"/>
          <p:cNvSpPr/>
          <p:nvPr/>
        </p:nvSpPr>
        <p:spPr>
          <a:xfrm>
            <a:off x="685800" y="2944368"/>
            <a:ext cx="4983480" cy="1143000"/>
          </a:xfrm>
          <a:prstGeom prst="roundRect">
            <a:avLst>
              <a:gd name="adj" fmla="val 12000"/>
            </a:avLst>
          </a:prstGeom>
          <a:solidFill>
            <a:srgbClr val="17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2944368"/>
            <a:ext cx="64008" cy="1143000"/>
          </a:xfrm>
          <a:prstGeom prst="rect">
            <a:avLst/>
          </a:prstGeom>
          <a:solidFill>
            <a:srgbClr val="FF9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6968" y="3090672"/>
            <a:ext cx="4617720" cy="292608"/>
          </a:xfrm>
          <a:prstGeom prst="rect">
            <a:avLst/>
          </a:prstGeom>
          <a:noFill/>
        </p:spPr>
        <p:txBody>
          <a:bodyPr wrap="square" lIns="36576" rIns="36576" tIns="36576" bIns="36576" anchor="t">
            <a:spAutoFit/>
          </a:bodyPr>
          <a:lstStyle/>
          <a:p>
            <a:pPr>
              <a:spcAft>
                <a:spcPts val="400"/>
              </a:spcAft>
            </a:pPr>
            <a:r>
              <a:rPr sz="1300" b="1">
                <a:solidFill>
                  <a:srgbClr val="FF9141"/>
                </a:solidFill>
                <a:latin typeface="Aptos"/>
              </a:rPr>
              <a:t>DELIVERIES TABLE</a:t>
            </a:r>
          </a:p>
        </p:txBody>
      </p:sp>
      <p:sp>
        <p:nvSpPr>
          <p:cNvPr id="13" name="TextBox 12"/>
          <p:cNvSpPr txBox="1"/>
          <p:nvPr/>
        </p:nvSpPr>
        <p:spPr>
          <a:xfrm>
            <a:off x="886968" y="3447288"/>
            <a:ext cx="4617720" cy="576072"/>
          </a:xfrm>
          <a:prstGeom prst="rect">
            <a:avLst/>
          </a:prstGeom>
          <a:noFill/>
        </p:spPr>
        <p:txBody>
          <a:bodyPr wrap="square" lIns="36576" rIns="36576" tIns="36576" bIns="36576" anchor="t">
            <a:spAutoFit/>
          </a:bodyPr>
          <a:lstStyle/>
          <a:p>
            <a:pPr>
              <a:spcAft>
                <a:spcPts val="400"/>
              </a:spcAft>
            </a:pPr>
            <a:r>
              <a:rPr sz="1200" b="0">
                <a:solidFill>
                  <a:srgbClr val="F5F8FC"/>
                </a:solidFill>
                <a:latin typeface="Aptos"/>
              </a:rPr>
              <a:t>One row per ball: batter, bowler, runs, extras and wicket events.</a:t>
            </a:r>
          </a:p>
        </p:txBody>
      </p:sp>
      <p:sp>
        <p:nvSpPr>
          <p:cNvPr id="14" name="TextBox 13"/>
          <p:cNvSpPr txBox="1"/>
          <p:nvPr/>
        </p:nvSpPr>
        <p:spPr>
          <a:xfrm>
            <a:off x="685800" y="4370832"/>
            <a:ext cx="4937760" cy="658368"/>
          </a:xfrm>
          <a:prstGeom prst="rect">
            <a:avLst/>
          </a:prstGeom>
          <a:noFill/>
        </p:spPr>
        <p:txBody>
          <a:bodyPr wrap="square" lIns="36576" rIns="36576" tIns="36576" bIns="36576" anchor="t">
            <a:spAutoFit/>
          </a:bodyPr>
          <a:lstStyle/>
          <a:p>
            <a:pPr>
              <a:spcAft>
                <a:spcPts val="400"/>
              </a:spcAft>
            </a:pPr>
            <a:r>
              <a:rPr sz="1200" b="0">
                <a:solidFill>
                  <a:srgbClr val="AEBECF"/>
                </a:solidFill>
                <a:latin typeface="Aptos"/>
              </a:rPr>
              <a:t>Join key: match ID  •  Check duplicates, missing winners and team-name changes.</a:t>
            </a:r>
          </a:p>
        </p:txBody>
      </p:sp>
      <p:sp>
        <p:nvSpPr>
          <p:cNvPr id="15" name="Rounded Rectangle 14"/>
          <p:cNvSpPr/>
          <p:nvPr/>
        </p:nvSpPr>
        <p:spPr>
          <a:xfrm>
            <a:off x="5989320" y="1261872"/>
            <a:ext cx="5440680" cy="4206240"/>
          </a:xfrm>
          <a:prstGeom prst="roundRect">
            <a:avLst>
              <a:gd name="adj" fmla="val 12000"/>
            </a:avLst>
          </a:prstGeom>
          <a:solidFill>
            <a:srgbClr val="17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36208" y="1965960"/>
            <a:ext cx="777240" cy="411480"/>
          </a:xfrm>
          <a:prstGeom prst="rect">
            <a:avLst/>
          </a:prstGeom>
          <a:solidFill>
            <a:srgbClr val="1E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72784" y="2057400"/>
            <a:ext cx="704088" cy="182880"/>
          </a:xfrm>
          <a:prstGeom prst="rect">
            <a:avLst/>
          </a:prstGeom>
          <a:noFill/>
        </p:spPr>
        <p:txBody>
          <a:bodyPr wrap="square" lIns="36576" rIns="36576" tIns="36576" bIns="36576" anchor="t">
            <a:spAutoFit/>
          </a:bodyPr>
          <a:lstStyle/>
          <a:p>
            <a:pPr algn="ctr">
              <a:spcAft>
                <a:spcPts val="400"/>
              </a:spcAft>
            </a:pPr>
            <a:r>
              <a:rPr sz="1000" b="1">
                <a:solidFill>
                  <a:srgbClr val="46D287"/>
                </a:solidFill>
                <a:latin typeface="Aptos"/>
              </a:rPr>
              <a:t>Season</a:t>
            </a:r>
          </a:p>
        </p:txBody>
      </p:sp>
      <p:sp>
        <p:nvSpPr>
          <p:cNvPr id="19" name="Rectangle 18"/>
          <p:cNvSpPr/>
          <p:nvPr/>
        </p:nvSpPr>
        <p:spPr>
          <a:xfrm>
            <a:off x="7059168" y="1965960"/>
            <a:ext cx="1280160" cy="411480"/>
          </a:xfrm>
          <a:prstGeom prst="rect">
            <a:avLst/>
          </a:prstGeom>
          <a:solidFill>
            <a:srgbClr val="1E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95744" y="2057400"/>
            <a:ext cx="1207007" cy="182880"/>
          </a:xfrm>
          <a:prstGeom prst="rect">
            <a:avLst/>
          </a:prstGeom>
          <a:noFill/>
        </p:spPr>
        <p:txBody>
          <a:bodyPr wrap="square" lIns="36576" rIns="36576" tIns="36576" bIns="36576" anchor="t">
            <a:spAutoFit/>
          </a:bodyPr>
          <a:lstStyle/>
          <a:p>
            <a:pPr algn="ctr">
              <a:spcAft>
                <a:spcPts val="400"/>
              </a:spcAft>
            </a:pPr>
            <a:r>
              <a:rPr sz="1000" b="1">
                <a:solidFill>
                  <a:srgbClr val="46D287"/>
                </a:solidFill>
                <a:latin typeface="Aptos"/>
              </a:rPr>
              <a:t>Team 1</a:t>
            </a:r>
          </a:p>
        </p:txBody>
      </p:sp>
      <p:sp>
        <p:nvSpPr>
          <p:cNvPr id="21" name="Rectangle 20"/>
          <p:cNvSpPr/>
          <p:nvPr/>
        </p:nvSpPr>
        <p:spPr>
          <a:xfrm>
            <a:off x="8394192" y="1965960"/>
            <a:ext cx="1280160" cy="411480"/>
          </a:xfrm>
          <a:prstGeom prst="rect">
            <a:avLst/>
          </a:prstGeom>
          <a:solidFill>
            <a:srgbClr val="1E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30767" y="2057400"/>
            <a:ext cx="1207007" cy="182880"/>
          </a:xfrm>
          <a:prstGeom prst="rect">
            <a:avLst/>
          </a:prstGeom>
          <a:noFill/>
        </p:spPr>
        <p:txBody>
          <a:bodyPr wrap="square" lIns="36576" rIns="36576" tIns="36576" bIns="36576" anchor="t">
            <a:spAutoFit/>
          </a:bodyPr>
          <a:lstStyle/>
          <a:p>
            <a:pPr algn="ctr">
              <a:spcAft>
                <a:spcPts val="400"/>
              </a:spcAft>
            </a:pPr>
            <a:r>
              <a:rPr sz="1000" b="1">
                <a:solidFill>
                  <a:srgbClr val="46D287"/>
                </a:solidFill>
                <a:latin typeface="Aptos"/>
              </a:rPr>
              <a:t>Team 2</a:t>
            </a:r>
          </a:p>
        </p:txBody>
      </p:sp>
      <p:sp>
        <p:nvSpPr>
          <p:cNvPr id="23" name="Rectangle 22"/>
          <p:cNvSpPr/>
          <p:nvPr/>
        </p:nvSpPr>
        <p:spPr>
          <a:xfrm>
            <a:off x="9765792" y="1965960"/>
            <a:ext cx="1325880" cy="411480"/>
          </a:xfrm>
          <a:prstGeom prst="rect">
            <a:avLst/>
          </a:prstGeom>
          <a:solidFill>
            <a:srgbClr val="1E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02367" y="2057400"/>
            <a:ext cx="1252728" cy="182880"/>
          </a:xfrm>
          <a:prstGeom prst="rect">
            <a:avLst/>
          </a:prstGeom>
          <a:noFill/>
        </p:spPr>
        <p:txBody>
          <a:bodyPr wrap="square" lIns="36576" rIns="36576" tIns="36576" bIns="36576" anchor="t">
            <a:spAutoFit/>
          </a:bodyPr>
          <a:lstStyle/>
          <a:p>
            <a:pPr algn="ctr">
              <a:spcAft>
                <a:spcPts val="400"/>
              </a:spcAft>
            </a:pPr>
            <a:r>
              <a:rPr sz="1000" b="1">
                <a:solidFill>
                  <a:srgbClr val="46D287"/>
                </a:solidFill>
                <a:latin typeface="Aptos"/>
              </a:rPr>
              <a:t>Winner</a:t>
            </a:r>
          </a:p>
        </p:txBody>
      </p:sp>
      <p:sp>
        <p:nvSpPr>
          <p:cNvPr id="25" name="Rectangle 24"/>
          <p:cNvSpPr/>
          <p:nvPr/>
        </p:nvSpPr>
        <p:spPr>
          <a:xfrm>
            <a:off x="6236208" y="2432304"/>
            <a:ext cx="777240" cy="438912"/>
          </a:xfrm>
          <a:prstGeom prst="rect">
            <a:avLst/>
          </a:prstGeom>
          <a:solidFill>
            <a:srgbClr val="1C2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63640" y="2551176"/>
            <a:ext cx="722376" cy="182880"/>
          </a:xfrm>
          <a:prstGeom prst="rect">
            <a:avLst/>
          </a:prstGeom>
          <a:noFill/>
        </p:spPr>
        <p:txBody>
          <a:bodyPr wrap="square" lIns="36576" rIns="36576" tIns="36576" bIns="36576" anchor="t">
            <a:spAutoFit/>
          </a:bodyPr>
          <a:lstStyle/>
          <a:p>
            <a:pPr algn="ctr">
              <a:spcAft>
                <a:spcPts val="400"/>
              </a:spcAft>
            </a:pPr>
            <a:r>
              <a:rPr sz="1000" b="0">
                <a:solidFill>
                  <a:srgbClr val="F5F8FC"/>
                </a:solidFill>
                <a:latin typeface="Aptos"/>
              </a:rPr>
              <a:t>2024</a:t>
            </a:r>
          </a:p>
        </p:txBody>
      </p:sp>
      <p:sp>
        <p:nvSpPr>
          <p:cNvPr id="27" name="Rectangle 26"/>
          <p:cNvSpPr/>
          <p:nvPr/>
        </p:nvSpPr>
        <p:spPr>
          <a:xfrm>
            <a:off x="7059168" y="2432304"/>
            <a:ext cx="1280160" cy="438912"/>
          </a:xfrm>
          <a:prstGeom prst="rect">
            <a:avLst/>
          </a:prstGeom>
          <a:solidFill>
            <a:srgbClr val="1C2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086600" y="2551176"/>
            <a:ext cx="1225295" cy="182880"/>
          </a:xfrm>
          <a:prstGeom prst="rect">
            <a:avLst/>
          </a:prstGeom>
          <a:noFill/>
        </p:spPr>
        <p:txBody>
          <a:bodyPr wrap="square" lIns="36576" rIns="36576" tIns="36576" bIns="36576" anchor="t">
            <a:spAutoFit/>
          </a:bodyPr>
          <a:lstStyle/>
          <a:p>
            <a:pPr algn="ctr">
              <a:spcAft>
                <a:spcPts val="400"/>
              </a:spcAft>
            </a:pPr>
            <a:r>
              <a:rPr sz="1000" b="0">
                <a:solidFill>
                  <a:srgbClr val="F5F8FC"/>
                </a:solidFill>
                <a:latin typeface="Aptos"/>
              </a:rPr>
              <a:t>CSK</a:t>
            </a:r>
          </a:p>
        </p:txBody>
      </p:sp>
      <p:sp>
        <p:nvSpPr>
          <p:cNvPr id="29" name="Rectangle 28"/>
          <p:cNvSpPr/>
          <p:nvPr/>
        </p:nvSpPr>
        <p:spPr>
          <a:xfrm>
            <a:off x="8394192" y="2432304"/>
            <a:ext cx="1280160" cy="438912"/>
          </a:xfrm>
          <a:prstGeom prst="rect">
            <a:avLst/>
          </a:prstGeom>
          <a:solidFill>
            <a:srgbClr val="1C2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21624" y="2551176"/>
            <a:ext cx="1225295" cy="182880"/>
          </a:xfrm>
          <a:prstGeom prst="rect">
            <a:avLst/>
          </a:prstGeom>
          <a:noFill/>
        </p:spPr>
        <p:txBody>
          <a:bodyPr wrap="square" lIns="36576" rIns="36576" tIns="36576" bIns="36576" anchor="t">
            <a:spAutoFit/>
          </a:bodyPr>
          <a:lstStyle/>
          <a:p>
            <a:pPr algn="ctr">
              <a:spcAft>
                <a:spcPts val="400"/>
              </a:spcAft>
            </a:pPr>
            <a:r>
              <a:rPr sz="1000" b="0">
                <a:solidFill>
                  <a:srgbClr val="F5F8FC"/>
                </a:solidFill>
                <a:latin typeface="Aptos"/>
              </a:rPr>
              <a:t>RCB</a:t>
            </a:r>
          </a:p>
        </p:txBody>
      </p:sp>
      <p:sp>
        <p:nvSpPr>
          <p:cNvPr id="31" name="Rectangle 30"/>
          <p:cNvSpPr/>
          <p:nvPr/>
        </p:nvSpPr>
        <p:spPr>
          <a:xfrm>
            <a:off x="9765792" y="2432304"/>
            <a:ext cx="1325880" cy="438912"/>
          </a:xfrm>
          <a:prstGeom prst="rect">
            <a:avLst/>
          </a:prstGeom>
          <a:solidFill>
            <a:srgbClr val="1C2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793224" y="2551176"/>
            <a:ext cx="1271016" cy="182880"/>
          </a:xfrm>
          <a:prstGeom prst="rect">
            <a:avLst/>
          </a:prstGeom>
          <a:noFill/>
        </p:spPr>
        <p:txBody>
          <a:bodyPr wrap="square" lIns="36576" rIns="36576" tIns="36576" bIns="36576" anchor="t">
            <a:spAutoFit/>
          </a:bodyPr>
          <a:lstStyle/>
          <a:p>
            <a:pPr algn="ctr">
              <a:spcAft>
                <a:spcPts val="400"/>
              </a:spcAft>
            </a:pPr>
            <a:r>
              <a:rPr sz="1000" b="0">
                <a:solidFill>
                  <a:srgbClr val="F5F8FC"/>
                </a:solidFill>
                <a:latin typeface="Aptos"/>
              </a:rPr>
              <a:t>RCB</a:t>
            </a:r>
          </a:p>
        </p:txBody>
      </p:sp>
      <p:sp>
        <p:nvSpPr>
          <p:cNvPr id="33" name="Rectangle 32"/>
          <p:cNvSpPr/>
          <p:nvPr/>
        </p:nvSpPr>
        <p:spPr>
          <a:xfrm>
            <a:off x="6236208" y="2935224"/>
            <a:ext cx="777240" cy="438912"/>
          </a:xfrm>
          <a:prstGeom prst="rect">
            <a:avLst/>
          </a:prstGeom>
          <a:solidFill>
            <a:srgbClr val="17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63640" y="3054096"/>
            <a:ext cx="722376" cy="182880"/>
          </a:xfrm>
          <a:prstGeom prst="rect">
            <a:avLst/>
          </a:prstGeom>
          <a:noFill/>
        </p:spPr>
        <p:txBody>
          <a:bodyPr wrap="square" lIns="36576" rIns="36576" tIns="36576" bIns="36576" anchor="t">
            <a:spAutoFit/>
          </a:bodyPr>
          <a:lstStyle/>
          <a:p>
            <a:pPr algn="ctr">
              <a:spcAft>
                <a:spcPts val="400"/>
              </a:spcAft>
            </a:pPr>
            <a:r>
              <a:rPr sz="1000" b="0">
                <a:solidFill>
                  <a:srgbClr val="F5F8FC"/>
                </a:solidFill>
                <a:latin typeface="Aptos"/>
              </a:rPr>
              <a:t>2024</a:t>
            </a:r>
          </a:p>
        </p:txBody>
      </p:sp>
      <p:sp>
        <p:nvSpPr>
          <p:cNvPr id="35" name="Rectangle 34"/>
          <p:cNvSpPr/>
          <p:nvPr/>
        </p:nvSpPr>
        <p:spPr>
          <a:xfrm>
            <a:off x="7059168" y="2935224"/>
            <a:ext cx="1280160" cy="438912"/>
          </a:xfrm>
          <a:prstGeom prst="rect">
            <a:avLst/>
          </a:prstGeom>
          <a:solidFill>
            <a:srgbClr val="17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086600" y="3054096"/>
            <a:ext cx="1225295" cy="182880"/>
          </a:xfrm>
          <a:prstGeom prst="rect">
            <a:avLst/>
          </a:prstGeom>
          <a:noFill/>
        </p:spPr>
        <p:txBody>
          <a:bodyPr wrap="square" lIns="36576" rIns="36576" tIns="36576" bIns="36576" anchor="t">
            <a:spAutoFit/>
          </a:bodyPr>
          <a:lstStyle/>
          <a:p>
            <a:pPr algn="ctr">
              <a:spcAft>
                <a:spcPts val="400"/>
              </a:spcAft>
            </a:pPr>
            <a:r>
              <a:rPr sz="1000" b="0">
                <a:solidFill>
                  <a:srgbClr val="F5F8FC"/>
                </a:solidFill>
                <a:latin typeface="Aptos"/>
              </a:rPr>
              <a:t>KKR</a:t>
            </a:r>
          </a:p>
        </p:txBody>
      </p:sp>
      <p:sp>
        <p:nvSpPr>
          <p:cNvPr id="37" name="Rectangle 36"/>
          <p:cNvSpPr/>
          <p:nvPr/>
        </p:nvSpPr>
        <p:spPr>
          <a:xfrm>
            <a:off x="8394192" y="2935224"/>
            <a:ext cx="1280160" cy="438912"/>
          </a:xfrm>
          <a:prstGeom prst="rect">
            <a:avLst/>
          </a:prstGeom>
          <a:solidFill>
            <a:srgbClr val="17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21624" y="3054096"/>
            <a:ext cx="1225295" cy="182880"/>
          </a:xfrm>
          <a:prstGeom prst="rect">
            <a:avLst/>
          </a:prstGeom>
          <a:noFill/>
        </p:spPr>
        <p:txBody>
          <a:bodyPr wrap="square" lIns="36576" rIns="36576" tIns="36576" bIns="36576" anchor="t">
            <a:spAutoFit/>
          </a:bodyPr>
          <a:lstStyle/>
          <a:p>
            <a:pPr algn="ctr">
              <a:spcAft>
                <a:spcPts val="400"/>
              </a:spcAft>
            </a:pPr>
            <a:r>
              <a:rPr sz="1000" b="0">
                <a:solidFill>
                  <a:srgbClr val="F5F8FC"/>
                </a:solidFill>
                <a:latin typeface="Aptos"/>
              </a:rPr>
              <a:t>SRH</a:t>
            </a:r>
          </a:p>
        </p:txBody>
      </p:sp>
      <p:sp>
        <p:nvSpPr>
          <p:cNvPr id="39" name="Rectangle 38"/>
          <p:cNvSpPr/>
          <p:nvPr/>
        </p:nvSpPr>
        <p:spPr>
          <a:xfrm>
            <a:off x="9765792" y="2935224"/>
            <a:ext cx="1325880" cy="438912"/>
          </a:xfrm>
          <a:prstGeom prst="rect">
            <a:avLst/>
          </a:prstGeom>
          <a:solidFill>
            <a:srgbClr val="17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793224" y="3054096"/>
            <a:ext cx="1271016" cy="182880"/>
          </a:xfrm>
          <a:prstGeom prst="rect">
            <a:avLst/>
          </a:prstGeom>
          <a:noFill/>
        </p:spPr>
        <p:txBody>
          <a:bodyPr wrap="square" lIns="36576" rIns="36576" tIns="36576" bIns="36576" anchor="t">
            <a:spAutoFit/>
          </a:bodyPr>
          <a:lstStyle/>
          <a:p>
            <a:pPr algn="ctr">
              <a:spcAft>
                <a:spcPts val="400"/>
              </a:spcAft>
            </a:pPr>
            <a:r>
              <a:rPr sz="1000" b="0">
                <a:solidFill>
                  <a:srgbClr val="F5F8FC"/>
                </a:solidFill>
                <a:latin typeface="Aptos"/>
              </a:rPr>
              <a:t>KKR</a:t>
            </a:r>
          </a:p>
        </p:txBody>
      </p:sp>
      <p:sp>
        <p:nvSpPr>
          <p:cNvPr id="41" name="Rectangle 40"/>
          <p:cNvSpPr/>
          <p:nvPr/>
        </p:nvSpPr>
        <p:spPr>
          <a:xfrm>
            <a:off x="6236208" y="3438144"/>
            <a:ext cx="777240" cy="438912"/>
          </a:xfrm>
          <a:prstGeom prst="rect">
            <a:avLst/>
          </a:prstGeom>
          <a:solidFill>
            <a:srgbClr val="1C2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63640" y="3557016"/>
            <a:ext cx="722376" cy="182880"/>
          </a:xfrm>
          <a:prstGeom prst="rect">
            <a:avLst/>
          </a:prstGeom>
          <a:noFill/>
        </p:spPr>
        <p:txBody>
          <a:bodyPr wrap="square" lIns="36576" rIns="36576" tIns="36576" bIns="36576" anchor="t">
            <a:spAutoFit/>
          </a:bodyPr>
          <a:lstStyle/>
          <a:p>
            <a:pPr algn="ctr">
              <a:spcAft>
                <a:spcPts val="400"/>
              </a:spcAft>
            </a:pPr>
            <a:r>
              <a:rPr sz="1000" b="0">
                <a:solidFill>
                  <a:srgbClr val="F5F8FC"/>
                </a:solidFill>
                <a:latin typeface="Aptos"/>
              </a:rPr>
              <a:t>2025</a:t>
            </a:r>
          </a:p>
        </p:txBody>
      </p:sp>
      <p:sp>
        <p:nvSpPr>
          <p:cNvPr id="43" name="Rectangle 42"/>
          <p:cNvSpPr/>
          <p:nvPr/>
        </p:nvSpPr>
        <p:spPr>
          <a:xfrm>
            <a:off x="7059168" y="3438144"/>
            <a:ext cx="1280160" cy="438912"/>
          </a:xfrm>
          <a:prstGeom prst="rect">
            <a:avLst/>
          </a:prstGeom>
          <a:solidFill>
            <a:srgbClr val="1C2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086600" y="3557016"/>
            <a:ext cx="1225295" cy="182880"/>
          </a:xfrm>
          <a:prstGeom prst="rect">
            <a:avLst/>
          </a:prstGeom>
          <a:noFill/>
        </p:spPr>
        <p:txBody>
          <a:bodyPr wrap="square" lIns="36576" rIns="36576" tIns="36576" bIns="36576" anchor="t">
            <a:spAutoFit/>
          </a:bodyPr>
          <a:lstStyle/>
          <a:p>
            <a:pPr algn="ctr">
              <a:spcAft>
                <a:spcPts val="400"/>
              </a:spcAft>
            </a:pPr>
            <a:r>
              <a:rPr sz="1000" b="0">
                <a:solidFill>
                  <a:srgbClr val="F5F8FC"/>
                </a:solidFill>
                <a:latin typeface="Aptos"/>
              </a:rPr>
              <a:t>RCB</a:t>
            </a:r>
          </a:p>
        </p:txBody>
      </p:sp>
      <p:sp>
        <p:nvSpPr>
          <p:cNvPr id="45" name="Rectangle 44"/>
          <p:cNvSpPr/>
          <p:nvPr/>
        </p:nvSpPr>
        <p:spPr>
          <a:xfrm>
            <a:off x="8394192" y="3438144"/>
            <a:ext cx="1280160" cy="438912"/>
          </a:xfrm>
          <a:prstGeom prst="rect">
            <a:avLst/>
          </a:prstGeom>
          <a:solidFill>
            <a:srgbClr val="1C2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421624" y="3557016"/>
            <a:ext cx="1225295" cy="182880"/>
          </a:xfrm>
          <a:prstGeom prst="rect">
            <a:avLst/>
          </a:prstGeom>
          <a:noFill/>
        </p:spPr>
        <p:txBody>
          <a:bodyPr wrap="square" lIns="36576" rIns="36576" tIns="36576" bIns="36576" anchor="t">
            <a:spAutoFit/>
          </a:bodyPr>
          <a:lstStyle/>
          <a:p>
            <a:pPr algn="ctr">
              <a:spcAft>
                <a:spcPts val="400"/>
              </a:spcAft>
            </a:pPr>
            <a:r>
              <a:rPr sz="1000" b="0">
                <a:solidFill>
                  <a:srgbClr val="F5F8FC"/>
                </a:solidFill>
                <a:latin typeface="Aptos"/>
              </a:rPr>
              <a:t>PBKS</a:t>
            </a:r>
          </a:p>
        </p:txBody>
      </p:sp>
      <p:sp>
        <p:nvSpPr>
          <p:cNvPr id="47" name="Rectangle 46"/>
          <p:cNvSpPr/>
          <p:nvPr/>
        </p:nvSpPr>
        <p:spPr>
          <a:xfrm>
            <a:off x="9765792" y="3438144"/>
            <a:ext cx="1325880" cy="438912"/>
          </a:xfrm>
          <a:prstGeom prst="rect">
            <a:avLst/>
          </a:prstGeom>
          <a:solidFill>
            <a:srgbClr val="1C2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93224" y="3557016"/>
            <a:ext cx="1271016" cy="182880"/>
          </a:xfrm>
          <a:prstGeom prst="rect">
            <a:avLst/>
          </a:prstGeom>
          <a:noFill/>
        </p:spPr>
        <p:txBody>
          <a:bodyPr wrap="square" lIns="36576" rIns="36576" tIns="36576" bIns="36576" anchor="t">
            <a:spAutoFit/>
          </a:bodyPr>
          <a:lstStyle/>
          <a:p>
            <a:pPr algn="ctr">
              <a:spcAft>
                <a:spcPts val="400"/>
              </a:spcAft>
            </a:pPr>
            <a:r>
              <a:rPr sz="1000" b="0">
                <a:solidFill>
                  <a:srgbClr val="F5F8FC"/>
                </a:solidFill>
                <a:latin typeface="Aptos"/>
              </a:rPr>
              <a:t>RCB</a:t>
            </a:r>
          </a:p>
        </p:txBody>
      </p:sp>
      <p:sp>
        <p:nvSpPr>
          <p:cNvPr id="50" name="TextBox 49"/>
          <p:cNvSpPr txBox="1"/>
          <p:nvPr/>
        </p:nvSpPr>
        <p:spPr>
          <a:xfrm>
            <a:off x="713232" y="5577840"/>
            <a:ext cx="10789920" cy="411480"/>
          </a:xfrm>
          <a:prstGeom prst="rect">
            <a:avLst/>
          </a:prstGeom>
          <a:noFill/>
        </p:spPr>
        <p:txBody>
          <a:bodyPr wrap="square" lIns="36576" rIns="36576" tIns="36576" bIns="36576" anchor="t">
            <a:spAutoFit/>
          </a:bodyPr>
          <a:lstStyle/>
          <a:p>
            <a:pPr>
              <a:spcAft>
                <a:spcPts val="400"/>
              </a:spcAft>
            </a:pPr>
            <a:r>
              <a:rPr sz="1200" b="0">
                <a:solidFill>
                  <a:srgbClr val="AEBECF"/>
                </a:solidFill>
                <a:latin typeface="Aptos"/>
              </a:rPr>
              <a:t>Sources: official IPL records • Kaggle IPL datasets (verify season coverage and license)</a:t>
            </a:r>
          </a:p>
        </p:txBody>
      </p:sp>
      <p:sp>
        <p:nvSpPr>
          <p:cNvPr id="51" name="TextBox 50"/>
          <p:cNvSpPr txBox="1"/>
          <p:nvPr/>
        </p:nvSpPr>
        <p:spPr>
          <a:xfrm>
            <a:off x="621792" y="6519672"/>
            <a:ext cx="8778240" cy="164592"/>
          </a:xfrm>
          <a:prstGeom prst="rect">
            <a:avLst/>
          </a:prstGeom>
          <a:noFill/>
        </p:spPr>
        <p:txBody>
          <a:bodyPr wrap="square" lIns="36576" rIns="36576" tIns="36576" bIns="36576" anchor="t">
            <a:spAutoFit/>
          </a:bodyPr>
          <a:lstStyle/>
          <a:p>
            <a:pPr>
              <a:spcAft>
                <a:spcPts val="400"/>
              </a:spcAft>
            </a:pPr>
            <a:r>
              <a:rPr sz="800" b="0">
                <a:solidFill>
                  <a:srgbClr val="AEBECF"/>
                </a:solidFill>
                <a:latin typeface="Aptos"/>
              </a:rPr>
              <a:t>IPL 2027 WINNER PREDICTION  •  SPORTS ANALYTICS PROJECT</a:t>
            </a:r>
          </a:p>
        </p:txBody>
      </p:sp>
      <p:sp>
        <p:nvSpPr>
          <p:cNvPr id="52" name="TextBox 51"/>
          <p:cNvSpPr txBox="1"/>
          <p:nvPr/>
        </p:nvSpPr>
        <p:spPr>
          <a:xfrm>
            <a:off x="10972800" y="6492240"/>
            <a:ext cx="548640" cy="201168"/>
          </a:xfrm>
          <a:prstGeom prst="rect">
            <a:avLst/>
          </a:prstGeom>
          <a:noFill/>
        </p:spPr>
        <p:txBody>
          <a:bodyPr wrap="square" lIns="36576" rIns="36576" tIns="36576" bIns="36576" anchor="t">
            <a:spAutoFit/>
          </a:bodyPr>
          <a:lstStyle/>
          <a:p>
            <a:pPr algn="r">
              <a:spcAft>
                <a:spcPts val="400"/>
              </a:spcAft>
            </a:pPr>
            <a:r>
              <a:rPr sz="900" b="0">
                <a:solidFill>
                  <a:srgbClr val="AEBECF"/>
                </a:solidFill>
                <a:latin typeface="Aptos"/>
              </a:rPr>
              <a:t>04 / 10</a:t>
            </a:r>
          </a:p>
        </p:txBody>
      </p:sp>
      <p:sp>
        <p:nvSpPr>
          <p:cNvPr id="53" name="Rounded Rectangle 52"/>
          <p:cNvSpPr/>
          <p:nvPr/>
        </p:nvSpPr>
        <p:spPr>
          <a:xfrm>
            <a:off x="5989320" y="1261872"/>
            <a:ext cx="5440680" cy="4206240"/>
          </a:xfrm>
          <a:prstGeom prst="roundRect">
            <a:avLst>
              <a:gd name="adj" fmla="val 12000"/>
            </a:avLst>
          </a:prstGeom>
          <a:solidFill>
            <a:srgbClr val="17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236208" y="1481328"/>
            <a:ext cx="4937760" cy="320040"/>
          </a:xfrm>
          <a:prstGeom prst="rect">
            <a:avLst/>
          </a:prstGeom>
          <a:noFill/>
        </p:spPr>
        <p:txBody>
          <a:bodyPr wrap="square" lIns="36576" rIns="36576" tIns="27432" bIns="27432">
            <a:spAutoFit/>
          </a:bodyPr>
          <a:lstStyle/>
          <a:p>
            <a:r>
              <a:rPr sz="1400" b="1">
                <a:solidFill>
                  <a:srgbClr val="F5F8FC"/>
                </a:solidFill>
                <a:latin typeface="Aptos"/>
              </a:rPr>
              <a:t>VERIFIED RECENT IPL FINALS</a:t>
            </a:r>
          </a:p>
        </p:txBody>
      </p:sp>
      <p:sp>
        <p:nvSpPr>
          <p:cNvPr id="55" name="Rectangle 54"/>
          <p:cNvSpPr/>
          <p:nvPr/>
        </p:nvSpPr>
        <p:spPr>
          <a:xfrm>
            <a:off x="6236208" y="1965960"/>
            <a:ext cx="777240" cy="411480"/>
          </a:xfrm>
          <a:prstGeom prst="rect">
            <a:avLst/>
          </a:prstGeom>
          <a:solidFill>
            <a:srgbClr val="1E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254496" y="2057400"/>
            <a:ext cx="740664" cy="182880"/>
          </a:xfrm>
          <a:prstGeom prst="rect">
            <a:avLst/>
          </a:prstGeom>
          <a:noFill/>
        </p:spPr>
        <p:txBody>
          <a:bodyPr wrap="square" lIns="36576" rIns="36576" tIns="27432" bIns="27432">
            <a:spAutoFit/>
          </a:bodyPr>
          <a:lstStyle/>
          <a:p>
            <a:pPr algn="ctr"/>
            <a:r>
              <a:rPr sz="900" b="1">
                <a:solidFill>
                  <a:srgbClr val="46D287"/>
                </a:solidFill>
                <a:latin typeface="Aptos"/>
              </a:rPr>
              <a:t>Season</a:t>
            </a:r>
          </a:p>
        </p:txBody>
      </p:sp>
      <p:sp>
        <p:nvSpPr>
          <p:cNvPr id="57" name="Rectangle 56"/>
          <p:cNvSpPr/>
          <p:nvPr/>
        </p:nvSpPr>
        <p:spPr>
          <a:xfrm>
            <a:off x="7114032" y="1965960"/>
            <a:ext cx="1508760" cy="411480"/>
          </a:xfrm>
          <a:prstGeom prst="rect">
            <a:avLst/>
          </a:prstGeom>
          <a:solidFill>
            <a:srgbClr val="1E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132320" y="2057400"/>
            <a:ext cx="1472184" cy="182880"/>
          </a:xfrm>
          <a:prstGeom prst="rect">
            <a:avLst/>
          </a:prstGeom>
          <a:noFill/>
        </p:spPr>
        <p:txBody>
          <a:bodyPr wrap="square" lIns="36576" rIns="36576" tIns="27432" bIns="27432">
            <a:spAutoFit/>
          </a:bodyPr>
          <a:lstStyle/>
          <a:p>
            <a:pPr algn="ctr"/>
            <a:r>
              <a:rPr sz="900" b="1">
                <a:solidFill>
                  <a:srgbClr val="46D287"/>
                </a:solidFill>
                <a:latin typeface="Aptos"/>
              </a:rPr>
              <a:t>Champion</a:t>
            </a:r>
          </a:p>
        </p:txBody>
      </p:sp>
      <p:sp>
        <p:nvSpPr>
          <p:cNvPr id="59" name="Rectangle 58"/>
          <p:cNvSpPr/>
          <p:nvPr/>
        </p:nvSpPr>
        <p:spPr>
          <a:xfrm>
            <a:off x="8732520" y="1965960"/>
            <a:ext cx="1508760" cy="411480"/>
          </a:xfrm>
          <a:prstGeom prst="rect">
            <a:avLst/>
          </a:prstGeom>
          <a:solidFill>
            <a:srgbClr val="1E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750808" y="2057400"/>
            <a:ext cx="1472184" cy="182880"/>
          </a:xfrm>
          <a:prstGeom prst="rect">
            <a:avLst/>
          </a:prstGeom>
          <a:noFill/>
        </p:spPr>
        <p:txBody>
          <a:bodyPr wrap="square" lIns="36576" rIns="36576" tIns="27432" bIns="27432">
            <a:spAutoFit/>
          </a:bodyPr>
          <a:lstStyle/>
          <a:p>
            <a:pPr algn="ctr"/>
            <a:r>
              <a:rPr sz="900" b="1">
                <a:solidFill>
                  <a:srgbClr val="46D287"/>
                </a:solidFill>
                <a:latin typeface="Aptos"/>
              </a:rPr>
              <a:t>Runner-up</a:t>
            </a:r>
          </a:p>
        </p:txBody>
      </p:sp>
      <p:sp>
        <p:nvSpPr>
          <p:cNvPr id="61" name="Rectangle 60"/>
          <p:cNvSpPr/>
          <p:nvPr/>
        </p:nvSpPr>
        <p:spPr>
          <a:xfrm>
            <a:off x="10314432" y="1965960"/>
            <a:ext cx="914400" cy="411480"/>
          </a:xfrm>
          <a:prstGeom prst="rect">
            <a:avLst/>
          </a:prstGeom>
          <a:solidFill>
            <a:srgbClr val="1E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0332719" y="2057400"/>
            <a:ext cx="877824" cy="182880"/>
          </a:xfrm>
          <a:prstGeom prst="rect">
            <a:avLst/>
          </a:prstGeom>
          <a:noFill/>
        </p:spPr>
        <p:txBody>
          <a:bodyPr wrap="square" lIns="36576" rIns="36576" tIns="27432" bIns="27432">
            <a:spAutoFit/>
          </a:bodyPr>
          <a:lstStyle/>
          <a:p>
            <a:pPr algn="ctr"/>
            <a:r>
              <a:rPr sz="900" b="1">
                <a:solidFill>
                  <a:srgbClr val="46D287"/>
                </a:solidFill>
                <a:latin typeface="Aptos"/>
              </a:rPr>
              <a:t>Final result</a:t>
            </a:r>
          </a:p>
        </p:txBody>
      </p:sp>
      <p:sp>
        <p:nvSpPr>
          <p:cNvPr id="63" name="Rectangle 62"/>
          <p:cNvSpPr/>
          <p:nvPr/>
        </p:nvSpPr>
        <p:spPr>
          <a:xfrm>
            <a:off x="6236208" y="2432304"/>
            <a:ext cx="777240" cy="438912"/>
          </a:xfrm>
          <a:prstGeom prst="rect">
            <a:avLst/>
          </a:prstGeom>
          <a:solidFill>
            <a:srgbClr val="1C2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254496" y="2514600"/>
            <a:ext cx="740664" cy="237744"/>
          </a:xfrm>
          <a:prstGeom prst="rect">
            <a:avLst/>
          </a:prstGeom>
          <a:noFill/>
        </p:spPr>
        <p:txBody>
          <a:bodyPr wrap="square" lIns="36576" rIns="36576" tIns="27432" bIns="27432">
            <a:spAutoFit/>
          </a:bodyPr>
          <a:lstStyle/>
          <a:p>
            <a:pPr algn="ctr"/>
            <a:r>
              <a:rPr sz="850" b="1">
                <a:solidFill>
                  <a:srgbClr val="F5F8FC"/>
                </a:solidFill>
                <a:latin typeface="Aptos"/>
              </a:rPr>
              <a:t>2024</a:t>
            </a:r>
          </a:p>
        </p:txBody>
      </p:sp>
      <p:sp>
        <p:nvSpPr>
          <p:cNvPr id="65" name="Rectangle 64"/>
          <p:cNvSpPr/>
          <p:nvPr/>
        </p:nvSpPr>
        <p:spPr>
          <a:xfrm>
            <a:off x="7114032" y="2432304"/>
            <a:ext cx="1508760" cy="438912"/>
          </a:xfrm>
          <a:prstGeom prst="rect">
            <a:avLst/>
          </a:prstGeom>
          <a:solidFill>
            <a:srgbClr val="1C2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132320" y="2514600"/>
            <a:ext cx="1472184" cy="237744"/>
          </a:xfrm>
          <a:prstGeom prst="rect">
            <a:avLst/>
          </a:prstGeom>
          <a:noFill/>
        </p:spPr>
        <p:txBody>
          <a:bodyPr wrap="square" lIns="36576" rIns="36576" tIns="27432" bIns="27432">
            <a:spAutoFit/>
          </a:bodyPr>
          <a:lstStyle/>
          <a:p>
            <a:pPr algn="ctr"/>
            <a:r>
              <a:rPr sz="850" b="0">
                <a:solidFill>
                  <a:srgbClr val="F5F8FC"/>
                </a:solidFill>
                <a:latin typeface="Aptos"/>
              </a:rPr>
              <a:t>Kolkata Knight Riders</a:t>
            </a:r>
          </a:p>
        </p:txBody>
      </p:sp>
      <p:sp>
        <p:nvSpPr>
          <p:cNvPr id="67" name="Rectangle 66"/>
          <p:cNvSpPr/>
          <p:nvPr/>
        </p:nvSpPr>
        <p:spPr>
          <a:xfrm>
            <a:off x="8732520" y="2432304"/>
            <a:ext cx="1508760" cy="438912"/>
          </a:xfrm>
          <a:prstGeom prst="rect">
            <a:avLst/>
          </a:prstGeom>
          <a:solidFill>
            <a:srgbClr val="1C2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750808" y="2514600"/>
            <a:ext cx="1472184" cy="237744"/>
          </a:xfrm>
          <a:prstGeom prst="rect">
            <a:avLst/>
          </a:prstGeom>
          <a:noFill/>
        </p:spPr>
        <p:txBody>
          <a:bodyPr wrap="square" lIns="36576" rIns="36576" tIns="27432" bIns="27432">
            <a:spAutoFit/>
          </a:bodyPr>
          <a:lstStyle/>
          <a:p>
            <a:pPr algn="ctr"/>
            <a:r>
              <a:rPr sz="850" b="0">
                <a:solidFill>
                  <a:srgbClr val="F5F8FC"/>
                </a:solidFill>
                <a:latin typeface="Aptos"/>
              </a:rPr>
              <a:t>Sunrisers Hyderabad</a:t>
            </a:r>
          </a:p>
        </p:txBody>
      </p:sp>
      <p:sp>
        <p:nvSpPr>
          <p:cNvPr id="69" name="Rectangle 68"/>
          <p:cNvSpPr/>
          <p:nvPr/>
        </p:nvSpPr>
        <p:spPr>
          <a:xfrm>
            <a:off x="10314432" y="2432304"/>
            <a:ext cx="914400" cy="438912"/>
          </a:xfrm>
          <a:prstGeom prst="rect">
            <a:avLst/>
          </a:prstGeom>
          <a:solidFill>
            <a:srgbClr val="1C2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332719" y="2514600"/>
            <a:ext cx="877824" cy="237744"/>
          </a:xfrm>
          <a:prstGeom prst="rect">
            <a:avLst/>
          </a:prstGeom>
          <a:noFill/>
        </p:spPr>
        <p:txBody>
          <a:bodyPr wrap="square" lIns="36576" rIns="36576" tIns="27432" bIns="27432">
            <a:spAutoFit/>
          </a:bodyPr>
          <a:lstStyle/>
          <a:p>
            <a:pPr algn="ctr"/>
            <a:r>
              <a:rPr sz="850" b="0">
                <a:solidFill>
                  <a:srgbClr val="F5F8FC"/>
                </a:solidFill>
                <a:latin typeface="Aptos"/>
              </a:rPr>
              <a:t>8 wickets</a:t>
            </a:r>
          </a:p>
        </p:txBody>
      </p:sp>
      <p:sp>
        <p:nvSpPr>
          <p:cNvPr id="71" name="Rectangle 70"/>
          <p:cNvSpPr/>
          <p:nvPr/>
        </p:nvSpPr>
        <p:spPr>
          <a:xfrm>
            <a:off x="6236208" y="2935224"/>
            <a:ext cx="777240" cy="438912"/>
          </a:xfrm>
          <a:prstGeom prst="rect">
            <a:avLst/>
          </a:prstGeom>
          <a:solidFill>
            <a:srgbClr val="17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254496" y="3017520"/>
            <a:ext cx="740664" cy="237744"/>
          </a:xfrm>
          <a:prstGeom prst="rect">
            <a:avLst/>
          </a:prstGeom>
          <a:noFill/>
        </p:spPr>
        <p:txBody>
          <a:bodyPr wrap="square" lIns="36576" rIns="36576" tIns="27432" bIns="27432">
            <a:spAutoFit/>
          </a:bodyPr>
          <a:lstStyle/>
          <a:p>
            <a:pPr algn="ctr"/>
            <a:r>
              <a:rPr sz="850" b="1">
                <a:solidFill>
                  <a:srgbClr val="F5F8FC"/>
                </a:solidFill>
                <a:latin typeface="Aptos"/>
              </a:rPr>
              <a:t>2025</a:t>
            </a:r>
          </a:p>
        </p:txBody>
      </p:sp>
      <p:sp>
        <p:nvSpPr>
          <p:cNvPr id="73" name="Rectangle 72"/>
          <p:cNvSpPr/>
          <p:nvPr/>
        </p:nvSpPr>
        <p:spPr>
          <a:xfrm>
            <a:off x="7114032" y="2935224"/>
            <a:ext cx="1508760" cy="438912"/>
          </a:xfrm>
          <a:prstGeom prst="rect">
            <a:avLst/>
          </a:prstGeom>
          <a:solidFill>
            <a:srgbClr val="17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132320" y="3017520"/>
            <a:ext cx="1472184" cy="237744"/>
          </a:xfrm>
          <a:prstGeom prst="rect">
            <a:avLst/>
          </a:prstGeom>
          <a:noFill/>
        </p:spPr>
        <p:txBody>
          <a:bodyPr wrap="square" lIns="36576" rIns="36576" tIns="27432" bIns="27432">
            <a:spAutoFit/>
          </a:bodyPr>
          <a:lstStyle/>
          <a:p>
            <a:pPr algn="ctr"/>
            <a:r>
              <a:rPr sz="850" b="0">
                <a:solidFill>
                  <a:srgbClr val="F5F8FC"/>
                </a:solidFill>
                <a:latin typeface="Aptos"/>
              </a:rPr>
              <a:t>Royal Challengers Bengaluru</a:t>
            </a:r>
          </a:p>
        </p:txBody>
      </p:sp>
      <p:sp>
        <p:nvSpPr>
          <p:cNvPr id="75" name="Rectangle 74"/>
          <p:cNvSpPr/>
          <p:nvPr/>
        </p:nvSpPr>
        <p:spPr>
          <a:xfrm>
            <a:off x="8732520" y="2935224"/>
            <a:ext cx="1508760" cy="438912"/>
          </a:xfrm>
          <a:prstGeom prst="rect">
            <a:avLst/>
          </a:prstGeom>
          <a:solidFill>
            <a:srgbClr val="17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750808" y="3017520"/>
            <a:ext cx="1472184" cy="237744"/>
          </a:xfrm>
          <a:prstGeom prst="rect">
            <a:avLst/>
          </a:prstGeom>
          <a:noFill/>
        </p:spPr>
        <p:txBody>
          <a:bodyPr wrap="square" lIns="36576" rIns="36576" tIns="27432" bIns="27432">
            <a:spAutoFit/>
          </a:bodyPr>
          <a:lstStyle/>
          <a:p>
            <a:pPr algn="ctr"/>
            <a:r>
              <a:rPr sz="850" b="0">
                <a:solidFill>
                  <a:srgbClr val="F5F8FC"/>
                </a:solidFill>
                <a:latin typeface="Aptos"/>
              </a:rPr>
              <a:t>Punjab Kings</a:t>
            </a:r>
          </a:p>
        </p:txBody>
      </p:sp>
      <p:sp>
        <p:nvSpPr>
          <p:cNvPr id="77" name="Rectangle 76"/>
          <p:cNvSpPr/>
          <p:nvPr/>
        </p:nvSpPr>
        <p:spPr>
          <a:xfrm>
            <a:off x="10314432" y="2935224"/>
            <a:ext cx="914400" cy="438912"/>
          </a:xfrm>
          <a:prstGeom prst="rect">
            <a:avLst/>
          </a:prstGeom>
          <a:solidFill>
            <a:srgbClr val="17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0332719" y="3017520"/>
            <a:ext cx="877824" cy="237744"/>
          </a:xfrm>
          <a:prstGeom prst="rect">
            <a:avLst/>
          </a:prstGeom>
          <a:noFill/>
        </p:spPr>
        <p:txBody>
          <a:bodyPr wrap="square" lIns="36576" rIns="36576" tIns="27432" bIns="27432">
            <a:spAutoFit/>
          </a:bodyPr>
          <a:lstStyle/>
          <a:p>
            <a:pPr algn="ctr"/>
            <a:r>
              <a:rPr sz="850" b="0">
                <a:solidFill>
                  <a:srgbClr val="F5F8FC"/>
                </a:solidFill>
                <a:latin typeface="Aptos"/>
              </a:rPr>
              <a:t>6 runs</a:t>
            </a:r>
          </a:p>
        </p:txBody>
      </p:sp>
      <p:sp>
        <p:nvSpPr>
          <p:cNvPr id="79" name="Rectangle 78"/>
          <p:cNvSpPr/>
          <p:nvPr/>
        </p:nvSpPr>
        <p:spPr>
          <a:xfrm>
            <a:off x="6236208" y="3438144"/>
            <a:ext cx="777240" cy="438912"/>
          </a:xfrm>
          <a:prstGeom prst="rect">
            <a:avLst/>
          </a:prstGeom>
          <a:solidFill>
            <a:srgbClr val="1C2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6254496" y="3520440"/>
            <a:ext cx="740664" cy="237744"/>
          </a:xfrm>
          <a:prstGeom prst="rect">
            <a:avLst/>
          </a:prstGeom>
          <a:noFill/>
        </p:spPr>
        <p:txBody>
          <a:bodyPr wrap="square" lIns="36576" rIns="36576" tIns="27432" bIns="27432">
            <a:spAutoFit/>
          </a:bodyPr>
          <a:lstStyle/>
          <a:p>
            <a:pPr algn="ctr"/>
            <a:r>
              <a:rPr sz="850" b="1">
                <a:solidFill>
                  <a:srgbClr val="F5F8FC"/>
                </a:solidFill>
                <a:latin typeface="Aptos"/>
              </a:rPr>
              <a:t>2026</a:t>
            </a:r>
          </a:p>
        </p:txBody>
      </p:sp>
      <p:sp>
        <p:nvSpPr>
          <p:cNvPr id="81" name="Rectangle 80"/>
          <p:cNvSpPr/>
          <p:nvPr/>
        </p:nvSpPr>
        <p:spPr>
          <a:xfrm>
            <a:off x="7114032" y="3438144"/>
            <a:ext cx="1508760" cy="438912"/>
          </a:xfrm>
          <a:prstGeom prst="rect">
            <a:avLst/>
          </a:prstGeom>
          <a:solidFill>
            <a:srgbClr val="1C2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7132320" y="3520440"/>
            <a:ext cx="1472184" cy="237744"/>
          </a:xfrm>
          <a:prstGeom prst="rect">
            <a:avLst/>
          </a:prstGeom>
          <a:noFill/>
        </p:spPr>
        <p:txBody>
          <a:bodyPr wrap="square" lIns="36576" rIns="36576" tIns="27432" bIns="27432">
            <a:spAutoFit/>
          </a:bodyPr>
          <a:lstStyle/>
          <a:p>
            <a:pPr algn="ctr"/>
            <a:r>
              <a:rPr sz="850" b="0">
                <a:solidFill>
                  <a:srgbClr val="F5F8FC"/>
                </a:solidFill>
                <a:latin typeface="Aptos"/>
              </a:rPr>
              <a:t>Royal Challengers Bengaluru</a:t>
            </a:r>
          </a:p>
        </p:txBody>
      </p:sp>
      <p:sp>
        <p:nvSpPr>
          <p:cNvPr id="83" name="Rectangle 82"/>
          <p:cNvSpPr/>
          <p:nvPr/>
        </p:nvSpPr>
        <p:spPr>
          <a:xfrm>
            <a:off x="8732520" y="3438144"/>
            <a:ext cx="1508760" cy="438912"/>
          </a:xfrm>
          <a:prstGeom prst="rect">
            <a:avLst/>
          </a:prstGeom>
          <a:solidFill>
            <a:srgbClr val="1C2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8750808" y="3520440"/>
            <a:ext cx="1472184" cy="237744"/>
          </a:xfrm>
          <a:prstGeom prst="rect">
            <a:avLst/>
          </a:prstGeom>
          <a:noFill/>
        </p:spPr>
        <p:txBody>
          <a:bodyPr wrap="square" lIns="36576" rIns="36576" tIns="27432" bIns="27432">
            <a:spAutoFit/>
          </a:bodyPr>
          <a:lstStyle/>
          <a:p>
            <a:pPr algn="ctr"/>
            <a:r>
              <a:rPr sz="850" b="0">
                <a:solidFill>
                  <a:srgbClr val="F5F8FC"/>
                </a:solidFill>
                <a:latin typeface="Aptos"/>
              </a:rPr>
              <a:t>Gujarat Titans</a:t>
            </a:r>
          </a:p>
        </p:txBody>
      </p:sp>
      <p:sp>
        <p:nvSpPr>
          <p:cNvPr id="85" name="Rectangle 84"/>
          <p:cNvSpPr/>
          <p:nvPr/>
        </p:nvSpPr>
        <p:spPr>
          <a:xfrm>
            <a:off x="10314432" y="3438144"/>
            <a:ext cx="914400" cy="438912"/>
          </a:xfrm>
          <a:prstGeom prst="rect">
            <a:avLst/>
          </a:prstGeom>
          <a:solidFill>
            <a:srgbClr val="1C2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10332719" y="3520440"/>
            <a:ext cx="877824" cy="237744"/>
          </a:xfrm>
          <a:prstGeom prst="rect">
            <a:avLst/>
          </a:prstGeom>
          <a:noFill/>
        </p:spPr>
        <p:txBody>
          <a:bodyPr wrap="square" lIns="36576" rIns="36576" tIns="27432" bIns="27432">
            <a:spAutoFit/>
          </a:bodyPr>
          <a:lstStyle/>
          <a:p>
            <a:pPr algn="ctr"/>
            <a:r>
              <a:rPr sz="850" b="0">
                <a:solidFill>
                  <a:srgbClr val="F5F8FC"/>
                </a:solidFill>
                <a:latin typeface="Aptos"/>
              </a:rPr>
              <a:t>5 wickets</a:t>
            </a:r>
          </a:p>
        </p:txBody>
      </p:sp>
      <p:sp>
        <p:nvSpPr>
          <p:cNvPr id="87" name="TextBox 86"/>
          <p:cNvSpPr txBox="1"/>
          <p:nvPr/>
        </p:nvSpPr>
        <p:spPr>
          <a:xfrm>
            <a:off x="6236208" y="4160520"/>
            <a:ext cx="4892040" cy="777240"/>
          </a:xfrm>
          <a:prstGeom prst="rect">
            <a:avLst/>
          </a:prstGeom>
          <a:noFill/>
        </p:spPr>
        <p:txBody>
          <a:bodyPr wrap="square" lIns="36576" rIns="36576" tIns="27432" bIns="27432">
            <a:spAutoFit/>
          </a:bodyPr>
          <a:lstStyle/>
          <a:p>
            <a:r>
              <a:rPr sz="1000" b="1">
                <a:solidFill>
                  <a:srgbClr val="FF9141"/>
                </a:solidFill>
                <a:latin typeface="Aptos"/>
              </a:rPr>
              <a:t>Source: official IPL 2026 final report and season records. These are final results, not 2027 predictions.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C1424"/>
        </a:solidFill>
        <a:effectLst/>
      </p:bgPr>
    </p:bg>
    <p:spTree>
      <p:nvGrpSpPr>
        <p:cNvPr id="1" name=""/>
        <p:cNvGrpSpPr/>
        <p:nvPr/>
      </p:nvGrpSpPr>
      <p:grpSpPr/>
      <p:sp>
        <p:nvSpPr>
          <p:cNvPr id="2" name="TextBox 1"/>
          <p:cNvSpPr txBox="1"/>
          <p:nvPr/>
        </p:nvSpPr>
        <p:spPr>
          <a:xfrm>
            <a:off x="594360" y="256032"/>
            <a:ext cx="10881360" cy="475488"/>
          </a:xfrm>
          <a:prstGeom prst="rect">
            <a:avLst/>
          </a:prstGeom>
          <a:noFill/>
        </p:spPr>
        <p:txBody>
          <a:bodyPr wrap="square" lIns="36576" rIns="36576" tIns="36576" bIns="36576" anchor="t">
            <a:spAutoFit/>
          </a:bodyPr>
          <a:lstStyle/>
          <a:p>
            <a:pPr>
              <a:spcAft>
                <a:spcPts val="400"/>
              </a:spcAft>
            </a:pPr>
            <a:r>
              <a:rPr sz="2700" b="1">
                <a:solidFill>
                  <a:srgbClr val="F5F8FC"/>
                </a:solidFill>
                <a:latin typeface="Aptos"/>
              </a:rPr>
              <a:t>Tools &amp; Technologies</a:t>
            </a:r>
          </a:p>
        </p:txBody>
      </p:sp>
      <p:sp>
        <p:nvSpPr>
          <p:cNvPr id="3" name="Rectangle 2"/>
          <p:cNvSpPr/>
          <p:nvPr/>
        </p:nvSpPr>
        <p:spPr>
          <a:xfrm>
            <a:off x="603504" y="832104"/>
            <a:ext cx="713232" cy="50292"/>
          </a:xfrm>
          <a:prstGeom prst="rect">
            <a:avLst/>
          </a:prstGeom>
          <a:solidFill>
            <a:srgbClr val="46D2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509760" y="310896"/>
            <a:ext cx="2057400" cy="274320"/>
          </a:xfrm>
          <a:prstGeom prst="rect">
            <a:avLst/>
          </a:prstGeom>
          <a:noFill/>
        </p:spPr>
        <p:txBody>
          <a:bodyPr wrap="square" lIns="36576" rIns="36576" tIns="36576" bIns="36576" anchor="t">
            <a:spAutoFit/>
          </a:bodyPr>
          <a:lstStyle/>
          <a:p>
            <a:pPr algn="r">
              <a:spcAft>
                <a:spcPts val="400"/>
              </a:spcAft>
            </a:pPr>
            <a:r>
              <a:rPr sz="900" b="1">
                <a:solidFill>
                  <a:srgbClr val="46D287"/>
                </a:solidFill>
                <a:latin typeface="Aptos"/>
              </a:rPr>
              <a:t>04 • TOOLKIT</a:t>
            </a:r>
          </a:p>
        </p:txBody>
      </p:sp>
      <p:sp>
        <p:nvSpPr>
          <p:cNvPr id="5" name="Rounded Rectangle 4"/>
          <p:cNvSpPr/>
          <p:nvPr/>
        </p:nvSpPr>
        <p:spPr>
          <a:xfrm>
            <a:off x="713232" y="1325880"/>
            <a:ext cx="3429000" cy="1508760"/>
          </a:xfrm>
          <a:prstGeom prst="roundRect">
            <a:avLst>
              <a:gd name="adj" fmla="val 12000"/>
            </a:avLst>
          </a:prstGeom>
          <a:solidFill>
            <a:srgbClr val="17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90472"/>
            <a:ext cx="548640" cy="292608"/>
          </a:xfrm>
          <a:prstGeom prst="rect">
            <a:avLst/>
          </a:prstGeom>
          <a:noFill/>
        </p:spPr>
        <p:txBody>
          <a:bodyPr wrap="square" lIns="36576" rIns="36576" tIns="36576" bIns="36576" anchor="t">
            <a:spAutoFit/>
          </a:bodyPr>
          <a:lstStyle/>
          <a:p>
            <a:pPr>
              <a:spcAft>
                <a:spcPts val="400"/>
              </a:spcAft>
            </a:pPr>
            <a:r>
              <a:rPr sz="1200" b="1">
                <a:solidFill>
                  <a:srgbClr val="46D287"/>
                </a:solidFill>
                <a:latin typeface="Aptos"/>
              </a:rPr>
              <a:t>01</a:t>
            </a:r>
          </a:p>
        </p:txBody>
      </p:sp>
      <p:sp>
        <p:nvSpPr>
          <p:cNvPr id="7" name="TextBox 6"/>
          <p:cNvSpPr txBox="1"/>
          <p:nvPr/>
        </p:nvSpPr>
        <p:spPr>
          <a:xfrm>
            <a:off x="1536192" y="1490472"/>
            <a:ext cx="2423160" cy="320040"/>
          </a:xfrm>
          <a:prstGeom prst="rect">
            <a:avLst/>
          </a:prstGeom>
          <a:noFill/>
        </p:spPr>
        <p:txBody>
          <a:bodyPr wrap="square" lIns="36576" rIns="36576" tIns="36576" bIns="36576" anchor="t">
            <a:spAutoFit/>
          </a:bodyPr>
          <a:lstStyle/>
          <a:p>
            <a:pPr>
              <a:spcAft>
                <a:spcPts val="400"/>
              </a:spcAft>
            </a:pPr>
            <a:r>
              <a:rPr sz="1400" b="1">
                <a:solidFill>
                  <a:srgbClr val="F5F8FC"/>
                </a:solidFill>
                <a:latin typeface="Aptos"/>
              </a:rPr>
              <a:t>POWER BI</a:t>
            </a:r>
          </a:p>
        </p:txBody>
      </p:sp>
      <p:sp>
        <p:nvSpPr>
          <p:cNvPr id="8" name="TextBox 7"/>
          <p:cNvSpPr txBox="1"/>
          <p:nvPr/>
        </p:nvSpPr>
        <p:spPr>
          <a:xfrm>
            <a:off x="914400" y="1938528"/>
            <a:ext cx="3026664" cy="640080"/>
          </a:xfrm>
          <a:prstGeom prst="rect">
            <a:avLst/>
          </a:prstGeom>
          <a:noFill/>
        </p:spPr>
        <p:txBody>
          <a:bodyPr wrap="square" lIns="36576" rIns="36576" tIns="36576" bIns="36576" anchor="t">
            <a:spAutoFit/>
          </a:bodyPr>
          <a:lstStyle/>
          <a:p>
            <a:pPr>
              <a:spcAft>
                <a:spcPts val="400"/>
              </a:spcAft>
            </a:pPr>
            <a:r>
              <a:rPr sz="1200" b="0">
                <a:solidFill>
                  <a:srgbClr val="AEBECF"/>
                </a:solidFill>
                <a:latin typeface="Aptos"/>
              </a:rPr>
              <a:t>Dashboard pages, charts, KPI cards and slicers.</a:t>
            </a:r>
          </a:p>
        </p:txBody>
      </p:sp>
      <p:sp>
        <p:nvSpPr>
          <p:cNvPr id="9" name="Rounded Rectangle 8"/>
          <p:cNvSpPr/>
          <p:nvPr/>
        </p:nvSpPr>
        <p:spPr>
          <a:xfrm>
            <a:off x="4480560" y="1325880"/>
            <a:ext cx="3429000" cy="1508760"/>
          </a:xfrm>
          <a:prstGeom prst="roundRect">
            <a:avLst>
              <a:gd name="adj" fmla="val 12000"/>
            </a:avLst>
          </a:prstGeom>
          <a:solidFill>
            <a:srgbClr val="17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81728" y="1490472"/>
            <a:ext cx="548640" cy="292608"/>
          </a:xfrm>
          <a:prstGeom prst="rect">
            <a:avLst/>
          </a:prstGeom>
          <a:noFill/>
        </p:spPr>
        <p:txBody>
          <a:bodyPr wrap="square" lIns="36576" rIns="36576" tIns="36576" bIns="36576" anchor="t">
            <a:spAutoFit/>
          </a:bodyPr>
          <a:lstStyle/>
          <a:p>
            <a:pPr>
              <a:spcAft>
                <a:spcPts val="400"/>
              </a:spcAft>
            </a:pPr>
            <a:r>
              <a:rPr sz="1200" b="1">
                <a:solidFill>
                  <a:srgbClr val="FF9141"/>
                </a:solidFill>
                <a:latin typeface="Aptos"/>
              </a:rPr>
              <a:t>02</a:t>
            </a:r>
          </a:p>
        </p:txBody>
      </p:sp>
      <p:sp>
        <p:nvSpPr>
          <p:cNvPr id="11" name="TextBox 10"/>
          <p:cNvSpPr txBox="1"/>
          <p:nvPr/>
        </p:nvSpPr>
        <p:spPr>
          <a:xfrm>
            <a:off x="5303520" y="1490472"/>
            <a:ext cx="2423160" cy="320040"/>
          </a:xfrm>
          <a:prstGeom prst="rect">
            <a:avLst/>
          </a:prstGeom>
          <a:noFill/>
        </p:spPr>
        <p:txBody>
          <a:bodyPr wrap="square" lIns="36576" rIns="36576" tIns="36576" bIns="36576" anchor="t">
            <a:spAutoFit/>
          </a:bodyPr>
          <a:lstStyle/>
          <a:p>
            <a:pPr>
              <a:spcAft>
                <a:spcPts val="400"/>
              </a:spcAft>
            </a:pPr>
            <a:r>
              <a:rPr sz="1400" b="1">
                <a:solidFill>
                  <a:srgbClr val="F5F8FC"/>
                </a:solidFill>
                <a:latin typeface="Aptos"/>
              </a:rPr>
              <a:t>EXCEL / CSV</a:t>
            </a:r>
          </a:p>
        </p:txBody>
      </p:sp>
      <p:sp>
        <p:nvSpPr>
          <p:cNvPr id="12" name="TextBox 11"/>
          <p:cNvSpPr txBox="1"/>
          <p:nvPr/>
        </p:nvSpPr>
        <p:spPr>
          <a:xfrm>
            <a:off x="4681728" y="1938528"/>
            <a:ext cx="3026664" cy="640080"/>
          </a:xfrm>
          <a:prstGeom prst="rect">
            <a:avLst/>
          </a:prstGeom>
          <a:noFill/>
        </p:spPr>
        <p:txBody>
          <a:bodyPr wrap="square" lIns="36576" rIns="36576" tIns="36576" bIns="36576" anchor="t">
            <a:spAutoFit/>
          </a:bodyPr>
          <a:lstStyle/>
          <a:p>
            <a:pPr>
              <a:spcAft>
                <a:spcPts val="400"/>
              </a:spcAft>
            </a:pPr>
            <a:r>
              <a:rPr sz="1200" b="0">
                <a:solidFill>
                  <a:srgbClr val="AEBECF"/>
                </a:solidFill>
                <a:latin typeface="Aptos"/>
              </a:rPr>
              <a:t>Store and inspect match and ball-by-ball data.</a:t>
            </a:r>
          </a:p>
        </p:txBody>
      </p:sp>
      <p:sp>
        <p:nvSpPr>
          <p:cNvPr id="13" name="Rounded Rectangle 12"/>
          <p:cNvSpPr/>
          <p:nvPr/>
        </p:nvSpPr>
        <p:spPr>
          <a:xfrm>
            <a:off x="8247888" y="1325880"/>
            <a:ext cx="3429000" cy="1508760"/>
          </a:xfrm>
          <a:prstGeom prst="roundRect">
            <a:avLst>
              <a:gd name="adj" fmla="val 12000"/>
            </a:avLst>
          </a:prstGeom>
          <a:solidFill>
            <a:srgbClr val="17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49056" y="1490472"/>
            <a:ext cx="548640" cy="292608"/>
          </a:xfrm>
          <a:prstGeom prst="rect">
            <a:avLst/>
          </a:prstGeom>
          <a:noFill/>
        </p:spPr>
        <p:txBody>
          <a:bodyPr wrap="square" lIns="36576" rIns="36576" tIns="36576" bIns="36576" anchor="t">
            <a:spAutoFit/>
          </a:bodyPr>
          <a:lstStyle/>
          <a:p>
            <a:pPr>
              <a:spcAft>
                <a:spcPts val="400"/>
              </a:spcAft>
            </a:pPr>
            <a:r>
              <a:rPr sz="1200" b="1">
                <a:solidFill>
                  <a:srgbClr val="4A97FF"/>
                </a:solidFill>
                <a:latin typeface="Aptos"/>
              </a:rPr>
              <a:t>03</a:t>
            </a:r>
          </a:p>
        </p:txBody>
      </p:sp>
      <p:sp>
        <p:nvSpPr>
          <p:cNvPr id="15" name="TextBox 14"/>
          <p:cNvSpPr txBox="1"/>
          <p:nvPr/>
        </p:nvSpPr>
        <p:spPr>
          <a:xfrm>
            <a:off x="9070848" y="1490472"/>
            <a:ext cx="2423160" cy="320040"/>
          </a:xfrm>
          <a:prstGeom prst="rect">
            <a:avLst/>
          </a:prstGeom>
          <a:noFill/>
        </p:spPr>
        <p:txBody>
          <a:bodyPr wrap="square" lIns="36576" rIns="36576" tIns="36576" bIns="36576" anchor="t">
            <a:spAutoFit/>
          </a:bodyPr>
          <a:lstStyle/>
          <a:p>
            <a:pPr>
              <a:spcAft>
                <a:spcPts val="400"/>
              </a:spcAft>
            </a:pPr>
            <a:r>
              <a:rPr sz="1400" b="1">
                <a:solidFill>
                  <a:srgbClr val="F5F8FC"/>
                </a:solidFill>
                <a:latin typeface="Aptos"/>
              </a:rPr>
              <a:t>POWER QUERY</a:t>
            </a:r>
          </a:p>
        </p:txBody>
      </p:sp>
      <p:sp>
        <p:nvSpPr>
          <p:cNvPr id="16" name="TextBox 15"/>
          <p:cNvSpPr txBox="1"/>
          <p:nvPr/>
        </p:nvSpPr>
        <p:spPr>
          <a:xfrm>
            <a:off x="8449056" y="1938528"/>
            <a:ext cx="3026664" cy="640080"/>
          </a:xfrm>
          <a:prstGeom prst="rect">
            <a:avLst/>
          </a:prstGeom>
          <a:noFill/>
        </p:spPr>
        <p:txBody>
          <a:bodyPr wrap="square" lIns="36576" rIns="36576" tIns="36576" bIns="36576" anchor="t">
            <a:spAutoFit/>
          </a:bodyPr>
          <a:lstStyle/>
          <a:p>
            <a:pPr>
              <a:spcAft>
                <a:spcPts val="400"/>
              </a:spcAft>
            </a:pPr>
            <a:r>
              <a:rPr sz="1200" b="0">
                <a:solidFill>
                  <a:srgbClr val="AEBECF"/>
                </a:solidFill>
                <a:latin typeface="Aptos"/>
              </a:rPr>
              <a:t>Clean columns, fix data types and standardize team names.</a:t>
            </a:r>
          </a:p>
        </p:txBody>
      </p:sp>
      <p:sp>
        <p:nvSpPr>
          <p:cNvPr id="17" name="Rounded Rectangle 16"/>
          <p:cNvSpPr/>
          <p:nvPr/>
        </p:nvSpPr>
        <p:spPr>
          <a:xfrm>
            <a:off x="713232" y="3291839"/>
            <a:ext cx="5230368" cy="1508760"/>
          </a:xfrm>
          <a:prstGeom prst="roundRect">
            <a:avLst>
              <a:gd name="adj" fmla="val 12000"/>
            </a:avLst>
          </a:prstGeom>
          <a:solidFill>
            <a:srgbClr val="17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456432"/>
            <a:ext cx="548640" cy="292608"/>
          </a:xfrm>
          <a:prstGeom prst="rect">
            <a:avLst/>
          </a:prstGeom>
          <a:noFill/>
        </p:spPr>
        <p:txBody>
          <a:bodyPr wrap="square" lIns="36576" rIns="36576" tIns="36576" bIns="36576" anchor="t">
            <a:spAutoFit/>
          </a:bodyPr>
          <a:lstStyle/>
          <a:p>
            <a:pPr>
              <a:spcAft>
                <a:spcPts val="400"/>
              </a:spcAft>
            </a:pPr>
            <a:r>
              <a:rPr sz="1200" b="1">
                <a:solidFill>
                  <a:srgbClr val="FFD055"/>
                </a:solidFill>
                <a:latin typeface="Aptos"/>
              </a:rPr>
              <a:t>04</a:t>
            </a:r>
          </a:p>
        </p:txBody>
      </p:sp>
      <p:sp>
        <p:nvSpPr>
          <p:cNvPr id="19" name="TextBox 18"/>
          <p:cNvSpPr txBox="1"/>
          <p:nvPr/>
        </p:nvSpPr>
        <p:spPr>
          <a:xfrm>
            <a:off x="1536192" y="3456432"/>
            <a:ext cx="4224527" cy="320040"/>
          </a:xfrm>
          <a:prstGeom prst="rect">
            <a:avLst/>
          </a:prstGeom>
          <a:noFill/>
        </p:spPr>
        <p:txBody>
          <a:bodyPr wrap="square" lIns="36576" rIns="36576" tIns="36576" bIns="36576" anchor="t">
            <a:spAutoFit/>
          </a:bodyPr>
          <a:lstStyle/>
          <a:p>
            <a:pPr>
              <a:spcAft>
                <a:spcPts val="400"/>
              </a:spcAft>
            </a:pPr>
            <a:r>
              <a:rPr sz="1400" b="1">
                <a:solidFill>
                  <a:srgbClr val="F5F8FC"/>
                </a:solidFill>
                <a:latin typeface="Aptos"/>
              </a:rPr>
              <a:t>DAX</a:t>
            </a:r>
          </a:p>
        </p:txBody>
      </p:sp>
      <p:sp>
        <p:nvSpPr>
          <p:cNvPr id="20" name="TextBox 19"/>
          <p:cNvSpPr txBox="1"/>
          <p:nvPr/>
        </p:nvSpPr>
        <p:spPr>
          <a:xfrm>
            <a:off x="914400" y="3904487"/>
            <a:ext cx="4828031" cy="640080"/>
          </a:xfrm>
          <a:prstGeom prst="rect">
            <a:avLst/>
          </a:prstGeom>
          <a:noFill/>
        </p:spPr>
        <p:txBody>
          <a:bodyPr wrap="square" lIns="36576" rIns="36576" tIns="36576" bIns="36576" anchor="t">
            <a:spAutoFit/>
          </a:bodyPr>
          <a:lstStyle/>
          <a:p>
            <a:pPr>
              <a:spcAft>
                <a:spcPts val="400"/>
              </a:spcAft>
            </a:pPr>
            <a:r>
              <a:rPr sz="1200" b="0">
                <a:solidFill>
                  <a:srgbClr val="AEBECF"/>
                </a:solidFill>
                <a:latin typeface="Aptos"/>
              </a:rPr>
              <a:t>Create measures such as wins, matches and win percentage.</a:t>
            </a:r>
          </a:p>
        </p:txBody>
      </p:sp>
      <p:sp>
        <p:nvSpPr>
          <p:cNvPr id="21" name="Rounded Rectangle 20"/>
          <p:cNvSpPr/>
          <p:nvPr/>
        </p:nvSpPr>
        <p:spPr>
          <a:xfrm>
            <a:off x="6245352" y="3291839"/>
            <a:ext cx="5230368" cy="1508760"/>
          </a:xfrm>
          <a:prstGeom prst="roundRect">
            <a:avLst>
              <a:gd name="adj" fmla="val 12000"/>
            </a:avLst>
          </a:prstGeom>
          <a:solidFill>
            <a:srgbClr val="17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3456432"/>
            <a:ext cx="548640" cy="292608"/>
          </a:xfrm>
          <a:prstGeom prst="rect">
            <a:avLst/>
          </a:prstGeom>
          <a:noFill/>
        </p:spPr>
        <p:txBody>
          <a:bodyPr wrap="square" lIns="36576" rIns="36576" tIns="36576" bIns="36576" anchor="t">
            <a:spAutoFit/>
          </a:bodyPr>
          <a:lstStyle/>
          <a:p>
            <a:pPr>
              <a:spcAft>
                <a:spcPts val="400"/>
              </a:spcAft>
            </a:pPr>
            <a:r>
              <a:rPr sz="1200" b="1">
                <a:solidFill>
                  <a:srgbClr val="FA6969"/>
                </a:solidFill>
                <a:latin typeface="Aptos"/>
              </a:rPr>
              <a:t>05</a:t>
            </a:r>
          </a:p>
        </p:txBody>
      </p:sp>
      <p:sp>
        <p:nvSpPr>
          <p:cNvPr id="23" name="TextBox 22"/>
          <p:cNvSpPr txBox="1"/>
          <p:nvPr/>
        </p:nvSpPr>
        <p:spPr>
          <a:xfrm>
            <a:off x="7068312" y="3456432"/>
            <a:ext cx="4224527" cy="320040"/>
          </a:xfrm>
          <a:prstGeom prst="rect">
            <a:avLst/>
          </a:prstGeom>
          <a:noFill/>
        </p:spPr>
        <p:txBody>
          <a:bodyPr wrap="square" lIns="36576" rIns="36576" tIns="36576" bIns="36576" anchor="t">
            <a:spAutoFit/>
          </a:bodyPr>
          <a:lstStyle/>
          <a:p>
            <a:pPr>
              <a:spcAft>
                <a:spcPts val="400"/>
              </a:spcAft>
            </a:pPr>
            <a:r>
              <a:rPr sz="1400" b="1">
                <a:solidFill>
                  <a:srgbClr val="F5F8FC"/>
                </a:solidFill>
                <a:latin typeface="Aptos"/>
              </a:rPr>
              <a:t>PYTHON / ML • OPTIONAL</a:t>
            </a:r>
          </a:p>
        </p:txBody>
      </p:sp>
      <p:sp>
        <p:nvSpPr>
          <p:cNvPr id="24" name="TextBox 23"/>
          <p:cNvSpPr txBox="1"/>
          <p:nvPr/>
        </p:nvSpPr>
        <p:spPr>
          <a:xfrm>
            <a:off x="6446520" y="3904487"/>
            <a:ext cx="4828031" cy="640080"/>
          </a:xfrm>
          <a:prstGeom prst="rect">
            <a:avLst/>
          </a:prstGeom>
          <a:noFill/>
        </p:spPr>
        <p:txBody>
          <a:bodyPr wrap="square" lIns="36576" rIns="36576" tIns="36576" bIns="36576" anchor="t">
            <a:spAutoFit/>
          </a:bodyPr>
          <a:lstStyle/>
          <a:p>
            <a:pPr>
              <a:spcAft>
                <a:spcPts val="400"/>
              </a:spcAft>
            </a:pPr>
            <a:r>
              <a:rPr sz="1200" b="0">
                <a:solidFill>
                  <a:srgbClr val="AEBECF"/>
                </a:solidFill>
                <a:latin typeface="Aptos"/>
              </a:rPr>
              <a:t>Train and evaluate a predictive model outside the report.</a:t>
            </a:r>
          </a:p>
        </p:txBody>
      </p:sp>
      <p:sp>
        <p:nvSpPr>
          <p:cNvPr id="25" name="TextBox 24"/>
          <p:cNvSpPr txBox="1"/>
          <p:nvPr/>
        </p:nvSpPr>
        <p:spPr>
          <a:xfrm>
            <a:off x="777240" y="5715000"/>
            <a:ext cx="10515600" cy="320040"/>
          </a:xfrm>
          <a:prstGeom prst="rect">
            <a:avLst/>
          </a:prstGeom>
          <a:noFill/>
        </p:spPr>
        <p:txBody>
          <a:bodyPr wrap="square" lIns="36576" rIns="36576" tIns="36576" bIns="36576" anchor="t">
            <a:spAutoFit/>
          </a:bodyPr>
          <a:lstStyle/>
          <a:p>
            <a:pPr algn="ctr">
              <a:spcAft>
                <a:spcPts val="400"/>
              </a:spcAft>
            </a:pPr>
            <a:r>
              <a:rPr sz="1400" b="1">
                <a:solidFill>
                  <a:srgbClr val="46D287"/>
                </a:solidFill>
                <a:latin typeface="Aptos"/>
              </a:rPr>
              <a:t>Core workflow: Import → Clean → Model → Measure → Visualize → Validate</a:t>
            </a:r>
          </a:p>
        </p:txBody>
      </p:sp>
      <p:sp>
        <p:nvSpPr>
          <p:cNvPr id="26" name="TextBox 25"/>
          <p:cNvSpPr txBox="1"/>
          <p:nvPr/>
        </p:nvSpPr>
        <p:spPr>
          <a:xfrm>
            <a:off x="621792" y="6519672"/>
            <a:ext cx="8778240" cy="164592"/>
          </a:xfrm>
          <a:prstGeom prst="rect">
            <a:avLst/>
          </a:prstGeom>
          <a:noFill/>
        </p:spPr>
        <p:txBody>
          <a:bodyPr wrap="square" lIns="36576" rIns="36576" tIns="36576" bIns="36576" anchor="t">
            <a:spAutoFit/>
          </a:bodyPr>
          <a:lstStyle/>
          <a:p>
            <a:pPr>
              <a:spcAft>
                <a:spcPts val="400"/>
              </a:spcAft>
            </a:pPr>
            <a:r>
              <a:rPr sz="800" b="0">
                <a:solidFill>
                  <a:srgbClr val="AEBECF"/>
                </a:solidFill>
                <a:latin typeface="Aptos"/>
              </a:rPr>
              <a:t>IPL 2027 WINNER PREDICTION  •  SPORTS ANALYTICS PROJECT</a:t>
            </a:r>
          </a:p>
        </p:txBody>
      </p:sp>
      <p:sp>
        <p:nvSpPr>
          <p:cNvPr id="27" name="TextBox 26"/>
          <p:cNvSpPr txBox="1"/>
          <p:nvPr/>
        </p:nvSpPr>
        <p:spPr>
          <a:xfrm>
            <a:off x="10972800" y="6492240"/>
            <a:ext cx="548640" cy="201168"/>
          </a:xfrm>
          <a:prstGeom prst="rect">
            <a:avLst/>
          </a:prstGeom>
          <a:noFill/>
        </p:spPr>
        <p:txBody>
          <a:bodyPr wrap="square" lIns="36576" rIns="36576" tIns="36576" bIns="36576" anchor="t">
            <a:spAutoFit/>
          </a:bodyPr>
          <a:lstStyle/>
          <a:p>
            <a:pPr algn="r">
              <a:spcAft>
                <a:spcPts val="400"/>
              </a:spcAft>
            </a:pPr>
            <a:r>
              <a:rPr sz="900" b="0">
                <a:solidFill>
                  <a:srgbClr val="AEBECF"/>
                </a:solidFill>
                <a:latin typeface="Aptos"/>
              </a:rPr>
              <a:t>05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C1424"/>
        </a:solidFill>
        <a:effectLst/>
      </p:bgPr>
    </p:bg>
    <p:spTree>
      <p:nvGrpSpPr>
        <p:cNvPr id="1" name=""/>
        <p:cNvGrpSpPr/>
        <p:nvPr/>
      </p:nvGrpSpPr>
      <p:grpSpPr/>
      <p:sp>
        <p:nvSpPr>
          <p:cNvPr id="2" name="TextBox 1"/>
          <p:cNvSpPr txBox="1"/>
          <p:nvPr/>
        </p:nvSpPr>
        <p:spPr>
          <a:xfrm>
            <a:off x="594360" y="256032"/>
            <a:ext cx="10881360" cy="475488"/>
          </a:xfrm>
          <a:prstGeom prst="rect">
            <a:avLst/>
          </a:prstGeom>
          <a:noFill/>
        </p:spPr>
        <p:txBody>
          <a:bodyPr wrap="square" lIns="36576" rIns="36576" tIns="36576" bIns="36576" anchor="t">
            <a:spAutoFit/>
          </a:bodyPr>
          <a:lstStyle/>
          <a:p>
            <a:pPr>
              <a:spcAft>
                <a:spcPts val="400"/>
              </a:spcAft>
            </a:pPr>
            <a:r>
              <a:rPr sz="2700" b="1">
                <a:solidFill>
                  <a:srgbClr val="F5F8FC"/>
                </a:solidFill>
                <a:latin typeface="Aptos"/>
              </a:rPr>
              <a:t>Data Analysis &amp; Key Performance Indicators</a:t>
            </a:r>
          </a:p>
        </p:txBody>
      </p:sp>
      <p:sp>
        <p:nvSpPr>
          <p:cNvPr id="3" name="Rectangle 2"/>
          <p:cNvSpPr/>
          <p:nvPr/>
        </p:nvSpPr>
        <p:spPr>
          <a:xfrm>
            <a:off x="603504" y="832104"/>
            <a:ext cx="713232" cy="50292"/>
          </a:xfrm>
          <a:prstGeom prst="rect">
            <a:avLst/>
          </a:prstGeom>
          <a:solidFill>
            <a:srgbClr val="46D2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509760" y="310896"/>
            <a:ext cx="2057400" cy="274320"/>
          </a:xfrm>
          <a:prstGeom prst="rect">
            <a:avLst/>
          </a:prstGeom>
          <a:noFill/>
        </p:spPr>
        <p:txBody>
          <a:bodyPr wrap="square" lIns="36576" rIns="36576" tIns="36576" bIns="36576" anchor="t">
            <a:spAutoFit/>
          </a:bodyPr>
          <a:lstStyle/>
          <a:p>
            <a:pPr algn="r">
              <a:spcAft>
                <a:spcPts val="400"/>
              </a:spcAft>
            </a:pPr>
            <a:r>
              <a:rPr sz="900" b="1">
                <a:solidFill>
                  <a:srgbClr val="46D287"/>
                </a:solidFill>
                <a:latin typeface="Aptos"/>
              </a:rPr>
              <a:t>05 • MEASURES</a:t>
            </a:r>
          </a:p>
        </p:txBody>
      </p:sp>
      <p:sp>
        <p:nvSpPr>
          <p:cNvPr id="5" name="Rounded Rectangle 4"/>
          <p:cNvSpPr/>
          <p:nvPr/>
        </p:nvSpPr>
        <p:spPr>
          <a:xfrm>
            <a:off x="685800" y="1234440"/>
            <a:ext cx="2606040" cy="1051560"/>
          </a:xfrm>
          <a:prstGeom prst="roundRect">
            <a:avLst>
              <a:gd name="adj" fmla="val 12000"/>
            </a:avLst>
          </a:prstGeom>
          <a:solidFill>
            <a:srgbClr val="17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2104" y="1389888"/>
            <a:ext cx="2286000" cy="256032"/>
          </a:xfrm>
          <a:prstGeom prst="rect">
            <a:avLst/>
          </a:prstGeom>
          <a:noFill/>
        </p:spPr>
        <p:txBody>
          <a:bodyPr wrap="square" lIns="36576" rIns="36576" tIns="36576" bIns="36576" anchor="t">
            <a:spAutoFit/>
          </a:bodyPr>
          <a:lstStyle/>
          <a:p>
            <a:pPr>
              <a:spcAft>
                <a:spcPts val="400"/>
              </a:spcAft>
            </a:pPr>
            <a:r>
              <a:rPr sz="1200" b="1">
                <a:solidFill>
                  <a:srgbClr val="46D287"/>
                </a:solidFill>
                <a:latin typeface="Aptos"/>
              </a:rPr>
              <a:t>MATCHES PLAYED</a:t>
            </a:r>
          </a:p>
        </p:txBody>
      </p:sp>
      <p:sp>
        <p:nvSpPr>
          <p:cNvPr id="7" name="TextBox 6"/>
          <p:cNvSpPr txBox="1"/>
          <p:nvPr/>
        </p:nvSpPr>
        <p:spPr>
          <a:xfrm>
            <a:off x="832104" y="1737360"/>
            <a:ext cx="2286000" cy="310896"/>
          </a:xfrm>
          <a:prstGeom prst="rect">
            <a:avLst/>
          </a:prstGeom>
          <a:noFill/>
        </p:spPr>
        <p:txBody>
          <a:bodyPr wrap="square" lIns="36576" rIns="36576" tIns="36576" bIns="36576" anchor="t">
            <a:spAutoFit/>
          </a:bodyPr>
          <a:lstStyle/>
          <a:p>
            <a:pPr>
              <a:spcAft>
                <a:spcPts val="400"/>
              </a:spcAft>
            </a:pPr>
            <a:r>
              <a:rPr sz="1000" b="0">
                <a:solidFill>
                  <a:srgbClr val="AEBECF"/>
                </a:solidFill>
                <a:latin typeface="Aptos"/>
              </a:rPr>
              <a:t>Count of completed matches</a:t>
            </a:r>
          </a:p>
        </p:txBody>
      </p:sp>
      <p:sp>
        <p:nvSpPr>
          <p:cNvPr id="8" name="Rounded Rectangle 7"/>
          <p:cNvSpPr/>
          <p:nvPr/>
        </p:nvSpPr>
        <p:spPr>
          <a:xfrm>
            <a:off x="3566160" y="1234440"/>
            <a:ext cx="2606040" cy="1051560"/>
          </a:xfrm>
          <a:prstGeom prst="roundRect">
            <a:avLst>
              <a:gd name="adj" fmla="val 12000"/>
            </a:avLst>
          </a:prstGeom>
          <a:solidFill>
            <a:srgbClr val="17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12463" y="1389888"/>
            <a:ext cx="2286000" cy="256032"/>
          </a:xfrm>
          <a:prstGeom prst="rect">
            <a:avLst/>
          </a:prstGeom>
          <a:noFill/>
        </p:spPr>
        <p:txBody>
          <a:bodyPr wrap="square" lIns="36576" rIns="36576" tIns="36576" bIns="36576" anchor="t">
            <a:spAutoFit/>
          </a:bodyPr>
          <a:lstStyle/>
          <a:p>
            <a:pPr>
              <a:spcAft>
                <a:spcPts val="400"/>
              </a:spcAft>
            </a:pPr>
            <a:r>
              <a:rPr sz="1200" b="1">
                <a:solidFill>
                  <a:srgbClr val="FF9141"/>
                </a:solidFill>
                <a:latin typeface="Aptos"/>
              </a:rPr>
              <a:t>WINS</a:t>
            </a:r>
          </a:p>
        </p:txBody>
      </p:sp>
      <p:sp>
        <p:nvSpPr>
          <p:cNvPr id="10" name="TextBox 9"/>
          <p:cNvSpPr txBox="1"/>
          <p:nvPr/>
        </p:nvSpPr>
        <p:spPr>
          <a:xfrm>
            <a:off x="3712463" y="1737360"/>
            <a:ext cx="2286000" cy="310896"/>
          </a:xfrm>
          <a:prstGeom prst="rect">
            <a:avLst/>
          </a:prstGeom>
          <a:noFill/>
        </p:spPr>
        <p:txBody>
          <a:bodyPr wrap="square" lIns="36576" rIns="36576" tIns="36576" bIns="36576" anchor="t">
            <a:spAutoFit/>
          </a:bodyPr>
          <a:lstStyle/>
          <a:p>
            <a:pPr>
              <a:spcAft>
                <a:spcPts val="400"/>
              </a:spcAft>
            </a:pPr>
            <a:r>
              <a:rPr sz="1000" b="0">
                <a:solidFill>
                  <a:srgbClr val="AEBECF"/>
                </a:solidFill>
                <a:latin typeface="Aptos"/>
              </a:rPr>
              <a:t>Count by team</a:t>
            </a:r>
          </a:p>
        </p:txBody>
      </p:sp>
      <p:sp>
        <p:nvSpPr>
          <p:cNvPr id="11" name="Rounded Rectangle 10"/>
          <p:cNvSpPr/>
          <p:nvPr/>
        </p:nvSpPr>
        <p:spPr>
          <a:xfrm>
            <a:off x="6446520" y="1234440"/>
            <a:ext cx="2606040" cy="1051560"/>
          </a:xfrm>
          <a:prstGeom prst="roundRect">
            <a:avLst>
              <a:gd name="adj" fmla="val 12000"/>
            </a:avLst>
          </a:prstGeom>
          <a:solidFill>
            <a:srgbClr val="17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92824" y="1389888"/>
            <a:ext cx="2286000" cy="256032"/>
          </a:xfrm>
          <a:prstGeom prst="rect">
            <a:avLst/>
          </a:prstGeom>
          <a:noFill/>
        </p:spPr>
        <p:txBody>
          <a:bodyPr wrap="square" lIns="36576" rIns="36576" tIns="36576" bIns="36576" anchor="t">
            <a:spAutoFit/>
          </a:bodyPr>
          <a:lstStyle/>
          <a:p>
            <a:pPr>
              <a:spcAft>
                <a:spcPts val="400"/>
              </a:spcAft>
            </a:pPr>
            <a:r>
              <a:rPr sz="1200" b="1">
                <a:solidFill>
                  <a:srgbClr val="4A97FF"/>
                </a:solidFill>
                <a:latin typeface="Aptos"/>
              </a:rPr>
              <a:t>WIN %</a:t>
            </a:r>
          </a:p>
        </p:txBody>
      </p:sp>
      <p:sp>
        <p:nvSpPr>
          <p:cNvPr id="13" name="TextBox 12"/>
          <p:cNvSpPr txBox="1"/>
          <p:nvPr/>
        </p:nvSpPr>
        <p:spPr>
          <a:xfrm>
            <a:off x="6592824" y="1737360"/>
            <a:ext cx="2286000" cy="310896"/>
          </a:xfrm>
          <a:prstGeom prst="rect">
            <a:avLst/>
          </a:prstGeom>
          <a:noFill/>
        </p:spPr>
        <p:txBody>
          <a:bodyPr wrap="square" lIns="36576" rIns="36576" tIns="36576" bIns="36576" anchor="t">
            <a:spAutoFit/>
          </a:bodyPr>
          <a:lstStyle/>
          <a:p>
            <a:pPr>
              <a:spcAft>
                <a:spcPts val="400"/>
              </a:spcAft>
            </a:pPr>
            <a:r>
              <a:rPr sz="1000" b="0">
                <a:solidFill>
                  <a:srgbClr val="AEBECF"/>
                </a:solidFill>
                <a:latin typeface="Aptos"/>
              </a:rPr>
              <a:t>Wins ÷ matches played</a:t>
            </a:r>
          </a:p>
        </p:txBody>
      </p:sp>
      <p:sp>
        <p:nvSpPr>
          <p:cNvPr id="14" name="Rounded Rectangle 13"/>
          <p:cNvSpPr/>
          <p:nvPr/>
        </p:nvSpPr>
        <p:spPr>
          <a:xfrm>
            <a:off x="9326880" y="1234440"/>
            <a:ext cx="2606040" cy="1051560"/>
          </a:xfrm>
          <a:prstGeom prst="roundRect">
            <a:avLst>
              <a:gd name="adj" fmla="val 12000"/>
            </a:avLst>
          </a:prstGeom>
          <a:solidFill>
            <a:srgbClr val="17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73184" y="1389888"/>
            <a:ext cx="2286000" cy="256032"/>
          </a:xfrm>
          <a:prstGeom prst="rect">
            <a:avLst/>
          </a:prstGeom>
          <a:noFill/>
        </p:spPr>
        <p:txBody>
          <a:bodyPr wrap="square" lIns="36576" rIns="36576" tIns="36576" bIns="36576" anchor="t">
            <a:spAutoFit/>
          </a:bodyPr>
          <a:lstStyle/>
          <a:p>
            <a:pPr>
              <a:spcAft>
                <a:spcPts val="400"/>
              </a:spcAft>
            </a:pPr>
            <a:r>
              <a:rPr sz="1200" b="1">
                <a:solidFill>
                  <a:srgbClr val="FFD055"/>
                </a:solidFill>
                <a:latin typeface="Aptos"/>
              </a:rPr>
              <a:t>PLAYOFF RATE</a:t>
            </a:r>
          </a:p>
        </p:txBody>
      </p:sp>
      <p:sp>
        <p:nvSpPr>
          <p:cNvPr id="16" name="TextBox 15"/>
          <p:cNvSpPr txBox="1"/>
          <p:nvPr/>
        </p:nvSpPr>
        <p:spPr>
          <a:xfrm>
            <a:off x="9473184" y="1737360"/>
            <a:ext cx="2286000" cy="310896"/>
          </a:xfrm>
          <a:prstGeom prst="rect">
            <a:avLst/>
          </a:prstGeom>
          <a:noFill/>
        </p:spPr>
        <p:txBody>
          <a:bodyPr wrap="square" lIns="36576" rIns="36576" tIns="36576" bIns="36576" anchor="t">
            <a:spAutoFit/>
          </a:bodyPr>
          <a:lstStyle/>
          <a:p>
            <a:pPr>
              <a:spcAft>
                <a:spcPts val="400"/>
              </a:spcAft>
            </a:pPr>
            <a:r>
              <a:rPr sz="1000" b="0">
                <a:solidFill>
                  <a:srgbClr val="AEBECF"/>
                </a:solidFill>
                <a:latin typeface="Aptos"/>
              </a:rPr>
              <a:t>Playoff seasons ÷ seasons</a:t>
            </a:r>
          </a:p>
        </p:txBody>
      </p:sp>
      <p:sp>
        <p:nvSpPr>
          <p:cNvPr id="18" name="TextBox 17"/>
          <p:cNvSpPr txBox="1"/>
          <p:nvPr/>
        </p:nvSpPr>
        <p:spPr>
          <a:xfrm>
            <a:off x="822960" y="3182112"/>
            <a:ext cx="914400" cy="228600"/>
          </a:xfrm>
          <a:prstGeom prst="rect">
            <a:avLst/>
          </a:prstGeom>
          <a:noFill/>
        </p:spPr>
        <p:txBody>
          <a:bodyPr wrap="square" lIns="36576" rIns="36576" tIns="36576" bIns="36576" anchor="t">
            <a:spAutoFit/>
          </a:bodyPr>
          <a:lstStyle/>
          <a:p>
            <a:pPr>
              <a:spcAft>
                <a:spcPts val="400"/>
              </a:spcAft>
            </a:pPr>
            <a:r>
              <a:rPr sz="1100" b="0">
                <a:solidFill>
                  <a:srgbClr val="AEBECF"/>
                </a:solidFill>
                <a:latin typeface="Aptos"/>
              </a:rPr>
              <a:t>Team A</a:t>
            </a:r>
          </a:p>
        </p:txBody>
      </p:sp>
      <p:sp>
        <p:nvSpPr>
          <p:cNvPr id="19" name="Rectangle 18"/>
          <p:cNvSpPr/>
          <p:nvPr/>
        </p:nvSpPr>
        <p:spPr>
          <a:xfrm>
            <a:off x="1828800" y="3200400"/>
            <a:ext cx="3246120" cy="201168"/>
          </a:xfrm>
          <a:prstGeom prst="rect">
            <a:avLst/>
          </a:prstGeom>
          <a:solidFill>
            <a:srgbClr val="1E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28800" y="3200400"/>
            <a:ext cx="2661818" cy="201168"/>
          </a:xfrm>
          <a:prstGeom prst="rect">
            <a:avLst/>
          </a:prstGeom>
          <a:solidFill>
            <a:srgbClr val="46D2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66360" y="3182112"/>
            <a:ext cx="640080" cy="228600"/>
          </a:xfrm>
          <a:prstGeom prst="rect">
            <a:avLst/>
          </a:prstGeom>
          <a:noFill/>
        </p:spPr>
        <p:txBody>
          <a:bodyPr wrap="square" lIns="36576" rIns="36576" tIns="36576" bIns="36576" anchor="t">
            <a:spAutoFit/>
          </a:bodyPr>
          <a:lstStyle/>
          <a:p>
            <a:pPr>
              <a:spcAft>
                <a:spcPts val="400"/>
              </a:spcAft>
            </a:pPr>
            <a:r>
              <a:rPr sz="1000" b="1">
                <a:solidFill>
                  <a:srgbClr val="F5F8FC"/>
                </a:solidFill>
                <a:latin typeface="Aptos"/>
              </a:rPr>
              <a:t>82%</a:t>
            </a:r>
          </a:p>
        </p:txBody>
      </p:sp>
      <p:sp>
        <p:nvSpPr>
          <p:cNvPr id="22" name="TextBox 21"/>
          <p:cNvSpPr txBox="1"/>
          <p:nvPr/>
        </p:nvSpPr>
        <p:spPr>
          <a:xfrm>
            <a:off x="822960" y="3685032"/>
            <a:ext cx="914400" cy="228600"/>
          </a:xfrm>
          <a:prstGeom prst="rect">
            <a:avLst/>
          </a:prstGeom>
          <a:noFill/>
        </p:spPr>
        <p:txBody>
          <a:bodyPr wrap="square" lIns="36576" rIns="36576" tIns="36576" bIns="36576" anchor="t">
            <a:spAutoFit/>
          </a:bodyPr>
          <a:lstStyle/>
          <a:p>
            <a:pPr>
              <a:spcAft>
                <a:spcPts val="400"/>
              </a:spcAft>
            </a:pPr>
            <a:r>
              <a:rPr sz="1100" b="0">
                <a:solidFill>
                  <a:srgbClr val="AEBECF"/>
                </a:solidFill>
                <a:latin typeface="Aptos"/>
              </a:rPr>
              <a:t>Team B</a:t>
            </a:r>
          </a:p>
        </p:txBody>
      </p:sp>
      <p:sp>
        <p:nvSpPr>
          <p:cNvPr id="23" name="Rectangle 22"/>
          <p:cNvSpPr/>
          <p:nvPr/>
        </p:nvSpPr>
        <p:spPr>
          <a:xfrm>
            <a:off x="1828800" y="3703320"/>
            <a:ext cx="3246120" cy="201168"/>
          </a:xfrm>
          <a:prstGeom prst="rect">
            <a:avLst/>
          </a:prstGeom>
          <a:solidFill>
            <a:srgbClr val="1E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828800" y="3703320"/>
            <a:ext cx="2337206" cy="201168"/>
          </a:xfrm>
          <a:prstGeom prst="rect">
            <a:avLst/>
          </a:prstGeom>
          <a:solidFill>
            <a:srgbClr val="FF9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166360" y="3685032"/>
            <a:ext cx="640080" cy="228600"/>
          </a:xfrm>
          <a:prstGeom prst="rect">
            <a:avLst/>
          </a:prstGeom>
          <a:noFill/>
        </p:spPr>
        <p:txBody>
          <a:bodyPr wrap="square" lIns="36576" rIns="36576" tIns="36576" bIns="36576" anchor="t">
            <a:spAutoFit/>
          </a:bodyPr>
          <a:lstStyle/>
          <a:p>
            <a:pPr>
              <a:spcAft>
                <a:spcPts val="400"/>
              </a:spcAft>
            </a:pPr>
            <a:r>
              <a:rPr sz="1000" b="1">
                <a:solidFill>
                  <a:srgbClr val="F5F8FC"/>
                </a:solidFill>
                <a:latin typeface="Aptos"/>
              </a:rPr>
              <a:t>72%</a:t>
            </a:r>
          </a:p>
        </p:txBody>
      </p:sp>
      <p:sp>
        <p:nvSpPr>
          <p:cNvPr id="26" name="TextBox 25"/>
          <p:cNvSpPr txBox="1"/>
          <p:nvPr/>
        </p:nvSpPr>
        <p:spPr>
          <a:xfrm>
            <a:off x="822960" y="4187952"/>
            <a:ext cx="914400" cy="228600"/>
          </a:xfrm>
          <a:prstGeom prst="rect">
            <a:avLst/>
          </a:prstGeom>
          <a:noFill/>
        </p:spPr>
        <p:txBody>
          <a:bodyPr wrap="square" lIns="36576" rIns="36576" tIns="36576" bIns="36576" anchor="t">
            <a:spAutoFit/>
          </a:bodyPr>
          <a:lstStyle/>
          <a:p>
            <a:pPr>
              <a:spcAft>
                <a:spcPts val="400"/>
              </a:spcAft>
            </a:pPr>
            <a:r>
              <a:rPr sz="1100" b="0">
                <a:solidFill>
                  <a:srgbClr val="AEBECF"/>
                </a:solidFill>
                <a:latin typeface="Aptos"/>
              </a:rPr>
              <a:t>Team C</a:t>
            </a:r>
          </a:p>
        </p:txBody>
      </p:sp>
      <p:sp>
        <p:nvSpPr>
          <p:cNvPr id="27" name="Rectangle 26"/>
          <p:cNvSpPr/>
          <p:nvPr/>
        </p:nvSpPr>
        <p:spPr>
          <a:xfrm>
            <a:off x="1828800" y="4206240"/>
            <a:ext cx="3246120" cy="201168"/>
          </a:xfrm>
          <a:prstGeom prst="rect">
            <a:avLst/>
          </a:prstGeom>
          <a:solidFill>
            <a:srgbClr val="1E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828800" y="4206240"/>
            <a:ext cx="2109978" cy="201168"/>
          </a:xfrm>
          <a:prstGeom prst="rect">
            <a:avLst/>
          </a:prstGeom>
          <a:solidFill>
            <a:srgbClr val="4A9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66360" y="4187952"/>
            <a:ext cx="640080" cy="228600"/>
          </a:xfrm>
          <a:prstGeom prst="rect">
            <a:avLst/>
          </a:prstGeom>
          <a:noFill/>
        </p:spPr>
        <p:txBody>
          <a:bodyPr wrap="square" lIns="36576" rIns="36576" tIns="36576" bIns="36576" anchor="t">
            <a:spAutoFit/>
          </a:bodyPr>
          <a:lstStyle/>
          <a:p>
            <a:pPr>
              <a:spcAft>
                <a:spcPts val="400"/>
              </a:spcAft>
            </a:pPr>
            <a:r>
              <a:rPr sz="1000" b="1">
                <a:solidFill>
                  <a:srgbClr val="F5F8FC"/>
                </a:solidFill>
                <a:latin typeface="Aptos"/>
              </a:rPr>
              <a:t>65%</a:t>
            </a:r>
          </a:p>
        </p:txBody>
      </p:sp>
      <p:sp>
        <p:nvSpPr>
          <p:cNvPr id="30" name="TextBox 29"/>
          <p:cNvSpPr txBox="1"/>
          <p:nvPr/>
        </p:nvSpPr>
        <p:spPr>
          <a:xfrm>
            <a:off x="822960" y="4690872"/>
            <a:ext cx="914400" cy="228600"/>
          </a:xfrm>
          <a:prstGeom prst="rect">
            <a:avLst/>
          </a:prstGeom>
          <a:noFill/>
        </p:spPr>
        <p:txBody>
          <a:bodyPr wrap="square" lIns="36576" rIns="36576" tIns="36576" bIns="36576" anchor="t">
            <a:spAutoFit/>
          </a:bodyPr>
          <a:lstStyle/>
          <a:p>
            <a:pPr>
              <a:spcAft>
                <a:spcPts val="400"/>
              </a:spcAft>
            </a:pPr>
            <a:r>
              <a:rPr sz="1100" b="0">
                <a:solidFill>
                  <a:srgbClr val="AEBECF"/>
                </a:solidFill>
                <a:latin typeface="Aptos"/>
              </a:rPr>
              <a:t>Team D</a:t>
            </a:r>
          </a:p>
        </p:txBody>
      </p:sp>
      <p:sp>
        <p:nvSpPr>
          <p:cNvPr id="31" name="Rectangle 30"/>
          <p:cNvSpPr/>
          <p:nvPr/>
        </p:nvSpPr>
        <p:spPr>
          <a:xfrm>
            <a:off x="1828800" y="4709159"/>
            <a:ext cx="3246120" cy="201168"/>
          </a:xfrm>
          <a:prstGeom prst="rect">
            <a:avLst/>
          </a:prstGeom>
          <a:solidFill>
            <a:srgbClr val="1E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828800" y="4709159"/>
            <a:ext cx="1817827" cy="201168"/>
          </a:xfrm>
          <a:prstGeom prst="rect">
            <a:avLst/>
          </a:prstGeom>
          <a:solidFill>
            <a:srgbClr val="FFD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166360" y="4690872"/>
            <a:ext cx="640080" cy="228600"/>
          </a:xfrm>
          <a:prstGeom prst="rect">
            <a:avLst/>
          </a:prstGeom>
          <a:noFill/>
        </p:spPr>
        <p:txBody>
          <a:bodyPr wrap="square" lIns="36576" rIns="36576" tIns="36576" bIns="36576" anchor="t">
            <a:spAutoFit/>
          </a:bodyPr>
          <a:lstStyle/>
          <a:p>
            <a:pPr>
              <a:spcAft>
                <a:spcPts val="400"/>
              </a:spcAft>
            </a:pPr>
            <a:r>
              <a:rPr sz="1000" b="1">
                <a:solidFill>
                  <a:srgbClr val="F5F8FC"/>
                </a:solidFill>
                <a:latin typeface="Aptos"/>
              </a:rPr>
              <a:t>56%</a:t>
            </a:r>
          </a:p>
        </p:txBody>
      </p:sp>
      <p:sp>
        <p:nvSpPr>
          <p:cNvPr id="34" name="Rounded Rectangle 33"/>
          <p:cNvSpPr/>
          <p:nvPr/>
        </p:nvSpPr>
        <p:spPr>
          <a:xfrm>
            <a:off x="6217920" y="2651760"/>
            <a:ext cx="5212080" cy="2971800"/>
          </a:xfrm>
          <a:prstGeom prst="roundRect">
            <a:avLst>
              <a:gd name="adj" fmla="val 12000"/>
            </a:avLst>
          </a:prstGeom>
          <a:solidFill>
            <a:srgbClr val="17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92240" y="2880360"/>
            <a:ext cx="4663440" cy="274320"/>
          </a:xfrm>
          <a:prstGeom prst="rect">
            <a:avLst/>
          </a:prstGeom>
          <a:noFill/>
        </p:spPr>
        <p:txBody>
          <a:bodyPr wrap="square" lIns="36576" rIns="36576" tIns="36576" bIns="36576" anchor="t">
            <a:spAutoFit/>
          </a:bodyPr>
          <a:lstStyle/>
          <a:p>
            <a:pPr>
              <a:spcAft>
                <a:spcPts val="400"/>
              </a:spcAft>
            </a:pPr>
            <a:r>
              <a:rPr sz="1300" b="1">
                <a:solidFill>
                  <a:srgbClr val="46D287"/>
                </a:solidFill>
                <a:latin typeface="Aptos"/>
              </a:rPr>
              <a:t>IPL 2026 • VERIFIED SEASON FACTS</a:t>
            </a:r>
          </a:p>
        </p:txBody>
      </p:sp>
      <p:sp>
        <p:nvSpPr>
          <p:cNvPr id="36" name="Oval 35"/>
          <p:cNvSpPr/>
          <p:nvPr/>
        </p:nvSpPr>
        <p:spPr>
          <a:xfrm>
            <a:off x="6492240" y="3410712"/>
            <a:ext cx="100584" cy="100584"/>
          </a:xfrm>
          <a:prstGeom prst="ellipse">
            <a:avLst/>
          </a:prstGeom>
          <a:solidFill>
            <a:srgbClr val="FF9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93407" y="3337560"/>
            <a:ext cx="4370832" cy="356616"/>
          </a:xfrm>
          <a:prstGeom prst="rect">
            <a:avLst/>
          </a:prstGeom>
          <a:noFill/>
        </p:spPr>
        <p:txBody>
          <a:bodyPr wrap="square" lIns="36576" rIns="36576" tIns="36576" bIns="36576" anchor="t">
            <a:spAutoFit/>
          </a:bodyPr>
          <a:lstStyle/>
          <a:p>
            <a:pPr>
              <a:spcAft>
                <a:spcPts val="400"/>
              </a:spcAft>
            </a:pPr>
            <a:r>
              <a:rPr sz="1200" b="0">
                <a:solidFill>
                  <a:srgbClr val="F5F8FC"/>
                </a:solidFill>
                <a:latin typeface="Aptos"/>
              </a:rPr>
              <a:t>Average runs per innings</a:t>
            </a:r>
          </a:p>
        </p:txBody>
      </p:sp>
      <p:sp>
        <p:nvSpPr>
          <p:cNvPr id="38" name="Oval 37"/>
          <p:cNvSpPr/>
          <p:nvPr/>
        </p:nvSpPr>
        <p:spPr>
          <a:xfrm>
            <a:off x="6492240" y="3803904"/>
            <a:ext cx="100584" cy="100584"/>
          </a:xfrm>
          <a:prstGeom prst="ellipse">
            <a:avLst/>
          </a:prstGeom>
          <a:solidFill>
            <a:srgbClr val="FF9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693407" y="3730752"/>
            <a:ext cx="4370832" cy="356616"/>
          </a:xfrm>
          <a:prstGeom prst="rect">
            <a:avLst/>
          </a:prstGeom>
          <a:noFill/>
        </p:spPr>
        <p:txBody>
          <a:bodyPr wrap="square" lIns="36576" rIns="36576" tIns="36576" bIns="36576" anchor="t">
            <a:spAutoFit/>
          </a:bodyPr>
          <a:lstStyle/>
          <a:p>
            <a:pPr>
              <a:spcAft>
                <a:spcPts val="400"/>
              </a:spcAft>
            </a:pPr>
            <a:r>
              <a:rPr sz="1200" b="0">
                <a:solidFill>
                  <a:srgbClr val="F5F8FC"/>
                </a:solidFill>
                <a:latin typeface="Aptos"/>
              </a:rPr>
              <a:t>Wickets taken and bowling economy</a:t>
            </a:r>
          </a:p>
        </p:txBody>
      </p:sp>
      <p:sp>
        <p:nvSpPr>
          <p:cNvPr id="40" name="Oval 39"/>
          <p:cNvSpPr/>
          <p:nvPr/>
        </p:nvSpPr>
        <p:spPr>
          <a:xfrm>
            <a:off x="6492240" y="4197096"/>
            <a:ext cx="100584" cy="100584"/>
          </a:xfrm>
          <a:prstGeom prst="ellipse">
            <a:avLst/>
          </a:prstGeom>
          <a:solidFill>
            <a:srgbClr val="FF9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693407" y="4123944"/>
            <a:ext cx="4370832" cy="356616"/>
          </a:xfrm>
          <a:prstGeom prst="rect">
            <a:avLst/>
          </a:prstGeom>
          <a:noFill/>
        </p:spPr>
        <p:txBody>
          <a:bodyPr wrap="square" lIns="36576" rIns="36576" tIns="36576" bIns="36576" anchor="t">
            <a:spAutoFit/>
          </a:bodyPr>
          <a:lstStyle/>
          <a:p>
            <a:pPr>
              <a:spcAft>
                <a:spcPts val="400"/>
              </a:spcAft>
            </a:pPr>
            <a:r>
              <a:rPr sz="1200" b="0">
                <a:solidFill>
                  <a:srgbClr val="F5F8FC"/>
                </a:solidFill>
                <a:latin typeface="Aptos"/>
              </a:rPr>
              <a:t>Net run rate (where available)</a:t>
            </a:r>
          </a:p>
        </p:txBody>
      </p:sp>
      <p:sp>
        <p:nvSpPr>
          <p:cNvPr id="42" name="Oval 41"/>
          <p:cNvSpPr/>
          <p:nvPr/>
        </p:nvSpPr>
        <p:spPr>
          <a:xfrm>
            <a:off x="6492240" y="4590288"/>
            <a:ext cx="100584" cy="100584"/>
          </a:xfrm>
          <a:prstGeom prst="ellipse">
            <a:avLst/>
          </a:prstGeom>
          <a:solidFill>
            <a:srgbClr val="FF9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693407" y="4517136"/>
            <a:ext cx="4370832" cy="356616"/>
          </a:xfrm>
          <a:prstGeom prst="rect">
            <a:avLst/>
          </a:prstGeom>
          <a:noFill/>
        </p:spPr>
        <p:txBody>
          <a:bodyPr wrap="square" lIns="36576" rIns="36576" tIns="36576" bIns="36576" anchor="t">
            <a:spAutoFit/>
          </a:bodyPr>
          <a:lstStyle/>
          <a:p>
            <a:pPr>
              <a:spcAft>
                <a:spcPts val="400"/>
              </a:spcAft>
            </a:pPr>
            <a:r>
              <a:rPr sz="1200" b="0">
                <a:solidFill>
                  <a:srgbClr val="F5F8FC"/>
                </a:solidFill>
                <a:latin typeface="Aptos"/>
              </a:rPr>
              <a:t>Season-wise titles and playoff frequency</a:t>
            </a:r>
          </a:p>
        </p:txBody>
      </p:sp>
      <p:sp>
        <p:nvSpPr>
          <p:cNvPr id="44" name="Oval 43"/>
          <p:cNvSpPr/>
          <p:nvPr/>
        </p:nvSpPr>
        <p:spPr>
          <a:xfrm>
            <a:off x="6492240" y="4983480"/>
            <a:ext cx="100584" cy="100584"/>
          </a:xfrm>
          <a:prstGeom prst="ellipse">
            <a:avLst/>
          </a:prstGeom>
          <a:solidFill>
            <a:srgbClr val="FF9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693407" y="4910328"/>
            <a:ext cx="4370832" cy="356616"/>
          </a:xfrm>
          <a:prstGeom prst="rect">
            <a:avLst/>
          </a:prstGeom>
          <a:noFill/>
        </p:spPr>
        <p:txBody>
          <a:bodyPr wrap="square" lIns="36576" rIns="36576" tIns="36576" bIns="36576" anchor="t">
            <a:spAutoFit/>
          </a:bodyPr>
          <a:lstStyle/>
          <a:p>
            <a:pPr>
              <a:spcAft>
                <a:spcPts val="400"/>
              </a:spcAft>
            </a:pPr>
            <a:r>
              <a:rPr sz="1200" b="0">
                <a:solidFill>
                  <a:srgbClr val="F5F8FC"/>
                </a:solidFill>
                <a:latin typeface="Aptos"/>
              </a:rPr>
              <a:t>Home/away and venue patterns</a:t>
            </a:r>
          </a:p>
        </p:txBody>
      </p:sp>
      <p:sp>
        <p:nvSpPr>
          <p:cNvPr id="47" name="TextBox 46"/>
          <p:cNvSpPr txBox="1"/>
          <p:nvPr/>
        </p:nvSpPr>
        <p:spPr>
          <a:xfrm>
            <a:off x="621792" y="6519672"/>
            <a:ext cx="8778240" cy="164592"/>
          </a:xfrm>
          <a:prstGeom prst="rect">
            <a:avLst/>
          </a:prstGeom>
          <a:noFill/>
        </p:spPr>
        <p:txBody>
          <a:bodyPr wrap="square" lIns="36576" rIns="36576" tIns="36576" bIns="36576" anchor="t">
            <a:spAutoFit/>
          </a:bodyPr>
          <a:lstStyle/>
          <a:p>
            <a:pPr>
              <a:spcAft>
                <a:spcPts val="400"/>
              </a:spcAft>
            </a:pPr>
            <a:r>
              <a:rPr sz="800" b="0">
                <a:solidFill>
                  <a:srgbClr val="AEBECF"/>
                </a:solidFill>
                <a:latin typeface="Aptos"/>
              </a:rPr>
              <a:t>IPL 2027 WINNER PREDICTION  •  SPORTS ANALYTICS PROJECT</a:t>
            </a:r>
          </a:p>
        </p:txBody>
      </p:sp>
      <p:sp>
        <p:nvSpPr>
          <p:cNvPr id="48" name="TextBox 47"/>
          <p:cNvSpPr txBox="1"/>
          <p:nvPr/>
        </p:nvSpPr>
        <p:spPr>
          <a:xfrm>
            <a:off x="10972800" y="6492240"/>
            <a:ext cx="548640" cy="201168"/>
          </a:xfrm>
          <a:prstGeom prst="rect">
            <a:avLst/>
          </a:prstGeom>
          <a:noFill/>
        </p:spPr>
        <p:txBody>
          <a:bodyPr wrap="square" lIns="36576" rIns="36576" tIns="36576" bIns="36576" anchor="t">
            <a:spAutoFit/>
          </a:bodyPr>
          <a:lstStyle/>
          <a:p>
            <a:pPr algn="r">
              <a:spcAft>
                <a:spcPts val="400"/>
              </a:spcAft>
            </a:pPr>
            <a:r>
              <a:rPr sz="900" b="0">
                <a:solidFill>
                  <a:srgbClr val="AEBECF"/>
                </a:solidFill>
                <a:latin typeface="Aptos"/>
              </a:rPr>
              <a:t>06 / 10</a:t>
            </a:r>
          </a:p>
        </p:txBody>
      </p:sp>
      <p:sp>
        <p:nvSpPr>
          <p:cNvPr id="49" name="Rounded Rectangle 48"/>
          <p:cNvSpPr/>
          <p:nvPr/>
        </p:nvSpPr>
        <p:spPr>
          <a:xfrm>
            <a:off x="713232" y="2578608"/>
            <a:ext cx="5257800" cy="3063240"/>
          </a:xfrm>
          <a:prstGeom prst="roundRect">
            <a:avLst>
              <a:gd name="adj" fmla="val 12000"/>
            </a:avLst>
          </a:prstGeom>
          <a:solidFill>
            <a:srgbClr val="0C1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77240" y="2670048"/>
            <a:ext cx="5029200" cy="274320"/>
          </a:xfrm>
          <a:prstGeom prst="rect">
            <a:avLst/>
          </a:prstGeom>
          <a:noFill/>
        </p:spPr>
        <p:txBody>
          <a:bodyPr wrap="square" lIns="36576" rIns="36576" tIns="27432" bIns="27432">
            <a:spAutoFit/>
          </a:bodyPr>
          <a:lstStyle/>
          <a:p>
            <a:r>
              <a:rPr sz="1200" b="1">
                <a:solidFill>
                  <a:srgbClr val="F5F8FC"/>
                </a:solidFill>
                <a:latin typeface="Aptos"/>
              </a:rPr>
              <a:t>IPL TITLES BY FRANCHISE • THROUGH 2026</a:t>
            </a:r>
          </a:p>
        </p:txBody>
      </p:sp>
      <p:sp>
        <p:nvSpPr>
          <p:cNvPr id="51" name="TextBox 50"/>
          <p:cNvSpPr txBox="1"/>
          <p:nvPr/>
        </p:nvSpPr>
        <p:spPr>
          <a:xfrm>
            <a:off x="822960" y="3090672"/>
            <a:ext cx="1417320" cy="228600"/>
          </a:xfrm>
          <a:prstGeom prst="rect">
            <a:avLst/>
          </a:prstGeom>
          <a:noFill/>
        </p:spPr>
        <p:txBody>
          <a:bodyPr wrap="square" lIns="36576" rIns="36576" tIns="27432" bIns="27432">
            <a:spAutoFit/>
          </a:bodyPr>
          <a:lstStyle/>
          <a:p>
            <a:r>
              <a:rPr sz="1000" b="1">
                <a:solidFill>
                  <a:srgbClr val="AEBECF"/>
                </a:solidFill>
                <a:latin typeface="Aptos"/>
              </a:rPr>
              <a:t>CSK</a:t>
            </a:r>
          </a:p>
        </p:txBody>
      </p:sp>
      <p:sp>
        <p:nvSpPr>
          <p:cNvPr id="52" name="Rectangle 51"/>
          <p:cNvSpPr/>
          <p:nvPr/>
        </p:nvSpPr>
        <p:spPr>
          <a:xfrm>
            <a:off x="2240280" y="3104388"/>
            <a:ext cx="2468880" cy="201168"/>
          </a:xfrm>
          <a:prstGeom prst="rect">
            <a:avLst/>
          </a:prstGeom>
          <a:solidFill>
            <a:srgbClr val="1E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240280" y="3104388"/>
            <a:ext cx="2468880" cy="201168"/>
          </a:xfrm>
          <a:prstGeom prst="rect">
            <a:avLst/>
          </a:prstGeom>
          <a:solidFill>
            <a:srgbClr val="46D2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800600" y="3090672"/>
            <a:ext cx="502920" cy="228600"/>
          </a:xfrm>
          <a:prstGeom prst="rect">
            <a:avLst/>
          </a:prstGeom>
          <a:noFill/>
        </p:spPr>
        <p:txBody>
          <a:bodyPr wrap="square" lIns="36576" rIns="36576" tIns="27432" bIns="27432">
            <a:spAutoFit/>
          </a:bodyPr>
          <a:lstStyle/>
          <a:p>
            <a:r>
              <a:rPr sz="1000" b="1">
                <a:solidFill>
                  <a:srgbClr val="F5F8FC"/>
                </a:solidFill>
                <a:latin typeface="Aptos"/>
              </a:rPr>
              <a:t>5</a:t>
            </a:r>
          </a:p>
        </p:txBody>
      </p:sp>
      <p:sp>
        <p:nvSpPr>
          <p:cNvPr id="55" name="TextBox 54"/>
          <p:cNvSpPr txBox="1"/>
          <p:nvPr/>
        </p:nvSpPr>
        <p:spPr>
          <a:xfrm>
            <a:off x="822960" y="3547872"/>
            <a:ext cx="1417320" cy="228600"/>
          </a:xfrm>
          <a:prstGeom prst="rect">
            <a:avLst/>
          </a:prstGeom>
          <a:noFill/>
        </p:spPr>
        <p:txBody>
          <a:bodyPr wrap="square" lIns="36576" rIns="36576" tIns="27432" bIns="27432">
            <a:spAutoFit/>
          </a:bodyPr>
          <a:lstStyle/>
          <a:p>
            <a:r>
              <a:rPr sz="1000" b="1">
                <a:solidFill>
                  <a:srgbClr val="AEBECF"/>
                </a:solidFill>
                <a:latin typeface="Aptos"/>
              </a:rPr>
              <a:t>MI</a:t>
            </a:r>
          </a:p>
        </p:txBody>
      </p:sp>
      <p:sp>
        <p:nvSpPr>
          <p:cNvPr id="56" name="Rectangle 55"/>
          <p:cNvSpPr/>
          <p:nvPr/>
        </p:nvSpPr>
        <p:spPr>
          <a:xfrm>
            <a:off x="2240280" y="3561588"/>
            <a:ext cx="2468880" cy="201168"/>
          </a:xfrm>
          <a:prstGeom prst="rect">
            <a:avLst/>
          </a:prstGeom>
          <a:solidFill>
            <a:srgbClr val="1E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2240280" y="3561588"/>
            <a:ext cx="2468880" cy="201168"/>
          </a:xfrm>
          <a:prstGeom prst="rect">
            <a:avLst/>
          </a:prstGeom>
          <a:solidFill>
            <a:srgbClr val="FF9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800600" y="3547872"/>
            <a:ext cx="502920" cy="228600"/>
          </a:xfrm>
          <a:prstGeom prst="rect">
            <a:avLst/>
          </a:prstGeom>
          <a:noFill/>
        </p:spPr>
        <p:txBody>
          <a:bodyPr wrap="square" lIns="36576" rIns="36576" tIns="27432" bIns="27432">
            <a:spAutoFit/>
          </a:bodyPr>
          <a:lstStyle/>
          <a:p>
            <a:r>
              <a:rPr sz="1000" b="1">
                <a:solidFill>
                  <a:srgbClr val="F5F8FC"/>
                </a:solidFill>
                <a:latin typeface="Aptos"/>
              </a:rPr>
              <a:t>5</a:t>
            </a:r>
          </a:p>
        </p:txBody>
      </p:sp>
      <p:sp>
        <p:nvSpPr>
          <p:cNvPr id="59" name="TextBox 58"/>
          <p:cNvSpPr txBox="1"/>
          <p:nvPr/>
        </p:nvSpPr>
        <p:spPr>
          <a:xfrm>
            <a:off x="822960" y="4005072"/>
            <a:ext cx="1417320" cy="228600"/>
          </a:xfrm>
          <a:prstGeom prst="rect">
            <a:avLst/>
          </a:prstGeom>
          <a:noFill/>
        </p:spPr>
        <p:txBody>
          <a:bodyPr wrap="square" lIns="36576" rIns="36576" tIns="27432" bIns="27432">
            <a:spAutoFit/>
          </a:bodyPr>
          <a:lstStyle/>
          <a:p>
            <a:r>
              <a:rPr sz="1000" b="1">
                <a:solidFill>
                  <a:srgbClr val="AEBECF"/>
                </a:solidFill>
                <a:latin typeface="Aptos"/>
              </a:rPr>
              <a:t>KKR</a:t>
            </a:r>
          </a:p>
        </p:txBody>
      </p:sp>
      <p:sp>
        <p:nvSpPr>
          <p:cNvPr id="60" name="Rectangle 59"/>
          <p:cNvSpPr/>
          <p:nvPr/>
        </p:nvSpPr>
        <p:spPr>
          <a:xfrm>
            <a:off x="2240280" y="4018787"/>
            <a:ext cx="2468880" cy="201168"/>
          </a:xfrm>
          <a:prstGeom prst="rect">
            <a:avLst/>
          </a:prstGeom>
          <a:solidFill>
            <a:srgbClr val="1E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2240280" y="4018787"/>
            <a:ext cx="1481328" cy="201168"/>
          </a:xfrm>
          <a:prstGeom prst="rect">
            <a:avLst/>
          </a:prstGeom>
          <a:solidFill>
            <a:srgbClr val="4A9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800600" y="4005072"/>
            <a:ext cx="502920" cy="228600"/>
          </a:xfrm>
          <a:prstGeom prst="rect">
            <a:avLst/>
          </a:prstGeom>
          <a:noFill/>
        </p:spPr>
        <p:txBody>
          <a:bodyPr wrap="square" lIns="36576" rIns="36576" tIns="27432" bIns="27432">
            <a:spAutoFit/>
          </a:bodyPr>
          <a:lstStyle/>
          <a:p>
            <a:r>
              <a:rPr sz="1000" b="1">
                <a:solidFill>
                  <a:srgbClr val="F5F8FC"/>
                </a:solidFill>
                <a:latin typeface="Aptos"/>
              </a:rPr>
              <a:t>3</a:t>
            </a:r>
          </a:p>
        </p:txBody>
      </p:sp>
      <p:sp>
        <p:nvSpPr>
          <p:cNvPr id="63" name="TextBox 62"/>
          <p:cNvSpPr txBox="1"/>
          <p:nvPr/>
        </p:nvSpPr>
        <p:spPr>
          <a:xfrm>
            <a:off x="822960" y="4462272"/>
            <a:ext cx="1417320" cy="228600"/>
          </a:xfrm>
          <a:prstGeom prst="rect">
            <a:avLst/>
          </a:prstGeom>
          <a:noFill/>
        </p:spPr>
        <p:txBody>
          <a:bodyPr wrap="square" lIns="36576" rIns="36576" tIns="27432" bIns="27432">
            <a:spAutoFit/>
          </a:bodyPr>
          <a:lstStyle/>
          <a:p>
            <a:r>
              <a:rPr sz="1000" b="1">
                <a:solidFill>
                  <a:srgbClr val="AEBECF"/>
                </a:solidFill>
                <a:latin typeface="Aptos"/>
              </a:rPr>
              <a:t>RCB</a:t>
            </a:r>
          </a:p>
        </p:txBody>
      </p:sp>
      <p:sp>
        <p:nvSpPr>
          <p:cNvPr id="64" name="Rectangle 63"/>
          <p:cNvSpPr/>
          <p:nvPr/>
        </p:nvSpPr>
        <p:spPr>
          <a:xfrm>
            <a:off x="2240280" y="4475988"/>
            <a:ext cx="2468880" cy="201168"/>
          </a:xfrm>
          <a:prstGeom prst="rect">
            <a:avLst/>
          </a:prstGeom>
          <a:solidFill>
            <a:srgbClr val="1E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2240280" y="4475988"/>
            <a:ext cx="987552" cy="201168"/>
          </a:xfrm>
          <a:prstGeom prst="rect">
            <a:avLst/>
          </a:prstGeom>
          <a:solidFill>
            <a:srgbClr val="FFD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800600" y="4462272"/>
            <a:ext cx="502920" cy="228600"/>
          </a:xfrm>
          <a:prstGeom prst="rect">
            <a:avLst/>
          </a:prstGeom>
          <a:noFill/>
        </p:spPr>
        <p:txBody>
          <a:bodyPr wrap="square" lIns="36576" rIns="36576" tIns="27432" bIns="27432">
            <a:spAutoFit/>
          </a:bodyPr>
          <a:lstStyle/>
          <a:p>
            <a:r>
              <a:rPr sz="1000" b="1">
                <a:solidFill>
                  <a:srgbClr val="F5F8FC"/>
                </a:solidFill>
                <a:latin typeface="Aptos"/>
              </a:rPr>
              <a:t>2</a:t>
            </a:r>
          </a:p>
        </p:txBody>
      </p:sp>
      <p:sp>
        <p:nvSpPr>
          <p:cNvPr id="67" name="TextBox 66"/>
          <p:cNvSpPr txBox="1"/>
          <p:nvPr/>
        </p:nvSpPr>
        <p:spPr>
          <a:xfrm>
            <a:off x="822960" y="4919472"/>
            <a:ext cx="1417320" cy="228600"/>
          </a:xfrm>
          <a:prstGeom prst="rect">
            <a:avLst/>
          </a:prstGeom>
          <a:noFill/>
        </p:spPr>
        <p:txBody>
          <a:bodyPr wrap="square" lIns="36576" rIns="36576" tIns="27432" bIns="27432">
            <a:spAutoFit/>
          </a:bodyPr>
          <a:lstStyle/>
          <a:p>
            <a:r>
              <a:rPr sz="1000" b="1">
                <a:solidFill>
                  <a:srgbClr val="AEBECF"/>
                </a:solidFill>
                <a:latin typeface="Aptos"/>
              </a:rPr>
              <a:t>RR / DC / SRH / GT</a:t>
            </a:r>
          </a:p>
        </p:txBody>
      </p:sp>
      <p:sp>
        <p:nvSpPr>
          <p:cNvPr id="68" name="Rectangle 67"/>
          <p:cNvSpPr/>
          <p:nvPr/>
        </p:nvSpPr>
        <p:spPr>
          <a:xfrm>
            <a:off x="2240280" y="4933188"/>
            <a:ext cx="2468880" cy="201168"/>
          </a:xfrm>
          <a:prstGeom prst="rect">
            <a:avLst/>
          </a:prstGeom>
          <a:solidFill>
            <a:srgbClr val="1E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2240280" y="4933188"/>
            <a:ext cx="493776" cy="201168"/>
          </a:xfrm>
          <a:prstGeom prst="rect">
            <a:avLst/>
          </a:prstGeom>
          <a:solidFill>
            <a:srgbClr val="AEBE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800600" y="4919472"/>
            <a:ext cx="502920" cy="228600"/>
          </a:xfrm>
          <a:prstGeom prst="rect">
            <a:avLst/>
          </a:prstGeom>
          <a:noFill/>
        </p:spPr>
        <p:txBody>
          <a:bodyPr wrap="square" lIns="36576" rIns="36576" tIns="27432" bIns="27432">
            <a:spAutoFit/>
          </a:bodyPr>
          <a:lstStyle/>
          <a:p>
            <a:r>
              <a:rPr sz="1000" b="1">
                <a:solidFill>
                  <a:srgbClr val="F5F8FC"/>
                </a:solidFill>
                <a:latin typeface="Aptos"/>
              </a:rPr>
              <a:t>1</a:t>
            </a:r>
          </a:p>
        </p:txBody>
      </p:sp>
      <p:sp>
        <p:nvSpPr>
          <p:cNvPr id="71" name="TextBox 70"/>
          <p:cNvSpPr txBox="1"/>
          <p:nvPr/>
        </p:nvSpPr>
        <p:spPr>
          <a:xfrm>
            <a:off x="822960" y="5440680"/>
            <a:ext cx="4937760" cy="201168"/>
          </a:xfrm>
          <a:prstGeom prst="rect">
            <a:avLst/>
          </a:prstGeom>
          <a:noFill/>
        </p:spPr>
        <p:txBody>
          <a:bodyPr wrap="square" lIns="36576" rIns="36576" tIns="27432" bIns="27432">
            <a:spAutoFit/>
          </a:bodyPr>
          <a:lstStyle/>
          <a:p>
            <a:r>
              <a:rPr sz="900" b="1">
                <a:solidFill>
                  <a:srgbClr val="FF9141"/>
                </a:solidFill>
                <a:latin typeface="Aptos"/>
              </a:rPr>
              <a:t>Eight franchises have won at least one title.</a:t>
            </a:r>
          </a:p>
        </p:txBody>
      </p:sp>
      <p:sp>
        <p:nvSpPr>
          <p:cNvPr id="72" name="Rounded Rectangle 71"/>
          <p:cNvSpPr/>
          <p:nvPr/>
        </p:nvSpPr>
        <p:spPr>
          <a:xfrm>
            <a:off x="6217920" y="3154680"/>
            <a:ext cx="5120640" cy="2331720"/>
          </a:xfrm>
          <a:prstGeom prst="roundRect">
            <a:avLst>
              <a:gd name="adj" fmla="val 12000"/>
            </a:avLst>
          </a:prstGeom>
          <a:solidFill>
            <a:srgbClr val="17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492240" y="3401568"/>
            <a:ext cx="4572000" cy="256032"/>
          </a:xfrm>
          <a:prstGeom prst="rect">
            <a:avLst/>
          </a:prstGeom>
          <a:noFill/>
        </p:spPr>
        <p:txBody>
          <a:bodyPr wrap="square" lIns="36576" rIns="36576" tIns="27432" bIns="27432">
            <a:spAutoFit/>
          </a:bodyPr>
          <a:lstStyle/>
          <a:p>
            <a:r>
              <a:rPr sz="1100" b="0">
                <a:solidFill>
                  <a:srgbClr val="F5F8FC"/>
                </a:solidFill>
                <a:latin typeface="Aptos"/>
              </a:rPr>
              <a:t>•  2,332 fours and 1,426 sixes</a:t>
            </a:r>
          </a:p>
        </p:txBody>
      </p:sp>
      <p:sp>
        <p:nvSpPr>
          <p:cNvPr id="74" name="TextBox 73"/>
          <p:cNvSpPr txBox="1"/>
          <p:nvPr/>
        </p:nvSpPr>
        <p:spPr>
          <a:xfrm>
            <a:off x="6492240" y="3840480"/>
            <a:ext cx="4572000" cy="256032"/>
          </a:xfrm>
          <a:prstGeom prst="rect">
            <a:avLst/>
          </a:prstGeom>
          <a:noFill/>
        </p:spPr>
        <p:txBody>
          <a:bodyPr wrap="square" lIns="36576" rIns="36576" tIns="27432" bIns="27432">
            <a:spAutoFit/>
          </a:bodyPr>
          <a:lstStyle/>
          <a:p>
            <a:r>
              <a:rPr sz="1100" b="0">
                <a:solidFill>
                  <a:srgbClr val="F5F8FC"/>
                </a:solidFill>
                <a:latin typeface="Aptos"/>
              </a:rPr>
              <a:t>•  835 wickets across the season</a:t>
            </a:r>
          </a:p>
        </p:txBody>
      </p:sp>
      <p:sp>
        <p:nvSpPr>
          <p:cNvPr id="75" name="TextBox 74"/>
          <p:cNvSpPr txBox="1"/>
          <p:nvPr/>
        </p:nvSpPr>
        <p:spPr>
          <a:xfrm>
            <a:off x="6492240" y="4279392"/>
            <a:ext cx="4572000" cy="256032"/>
          </a:xfrm>
          <a:prstGeom prst="rect">
            <a:avLst/>
          </a:prstGeom>
          <a:noFill/>
        </p:spPr>
        <p:txBody>
          <a:bodyPr wrap="square" lIns="36576" rIns="36576" tIns="27432" bIns="27432">
            <a:spAutoFit/>
          </a:bodyPr>
          <a:lstStyle/>
          <a:p>
            <a:r>
              <a:rPr sz="1100" b="0">
                <a:solidFill>
                  <a:srgbClr val="F5F8FC"/>
                </a:solidFill>
                <a:latin typeface="Aptos"/>
              </a:rPr>
              <a:t>•  Vaibhav Sooryavanshi: 776 runs</a:t>
            </a:r>
          </a:p>
        </p:txBody>
      </p:sp>
      <p:sp>
        <p:nvSpPr>
          <p:cNvPr id="76" name="TextBox 75"/>
          <p:cNvSpPr txBox="1"/>
          <p:nvPr/>
        </p:nvSpPr>
        <p:spPr>
          <a:xfrm>
            <a:off x="6492240" y="4718304"/>
            <a:ext cx="4572000" cy="256032"/>
          </a:xfrm>
          <a:prstGeom prst="rect">
            <a:avLst/>
          </a:prstGeom>
          <a:noFill/>
        </p:spPr>
        <p:txBody>
          <a:bodyPr wrap="square" lIns="36576" rIns="36576" tIns="27432" bIns="27432">
            <a:spAutoFit/>
          </a:bodyPr>
          <a:lstStyle/>
          <a:p>
            <a:r>
              <a:rPr sz="1100" b="0">
                <a:solidFill>
                  <a:srgbClr val="F5F8FC"/>
                </a:solidFill>
                <a:latin typeface="Aptos"/>
              </a:rPr>
              <a:t>•  Kagiso Rabada: 29 wickets</a:t>
            </a:r>
          </a:p>
        </p:txBody>
      </p:sp>
      <p:sp>
        <p:nvSpPr>
          <p:cNvPr id="77" name="TextBox 76"/>
          <p:cNvSpPr txBox="1"/>
          <p:nvPr/>
        </p:nvSpPr>
        <p:spPr>
          <a:xfrm>
            <a:off x="6309360" y="5504688"/>
            <a:ext cx="4937760" cy="201168"/>
          </a:xfrm>
          <a:prstGeom prst="rect">
            <a:avLst/>
          </a:prstGeom>
          <a:noFill/>
        </p:spPr>
        <p:txBody>
          <a:bodyPr wrap="square" lIns="36576" rIns="36576" tIns="27432" bIns="27432">
            <a:spAutoFit/>
          </a:bodyPr>
          <a:lstStyle/>
          <a:p>
            <a:r>
              <a:rPr sz="800" b="0">
                <a:solidFill>
                  <a:srgbClr val="AEBECF"/>
                </a:solidFill>
                <a:latin typeface="Aptos"/>
              </a:rPr>
              <a:t>Source: official IPL 2026 season summary.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C1424"/>
        </a:solidFill>
        <a:effectLst/>
      </p:bgPr>
    </p:bg>
    <p:spTree>
      <p:nvGrpSpPr>
        <p:cNvPr id="1" name=""/>
        <p:cNvGrpSpPr/>
        <p:nvPr/>
      </p:nvGrpSpPr>
      <p:grpSpPr/>
      <p:sp>
        <p:nvSpPr>
          <p:cNvPr id="2" name="TextBox 1"/>
          <p:cNvSpPr txBox="1"/>
          <p:nvPr/>
        </p:nvSpPr>
        <p:spPr>
          <a:xfrm>
            <a:off x="594360" y="256032"/>
            <a:ext cx="10881360" cy="475488"/>
          </a:xfrm>
          <a:prstGeom prst="rect">
            <a:avLst/>
          </a:prstGeom>
          <a:noFill/>
        </p:spPr>
        <p:txBody>
          <a:bodyPr wrap="square" lIns="36576" rIns="36576" tIns="36576" bIns="36576" anchor="t">
            <a:spAutoFit/>
          </a:bodyPr>
          <a:lstStyle/>
          <a:p>
            <a:pPr>
              <a:spcAft>
                <a:spcPts val="400"/>
              </a:spcAft>
            </a:pPr>
            <a:r>
              <a:rPr sz="2700" b="1">
                <a:solidFill>
                  <a:srgbClr val="F5F8FC"/>
                </a:solidFill>
                <a:latin typeface="Aptos"/>
              </a:rPr>
              <a:t>Power BI Dashboard Design</a:t>
            </a:r>
          </a:p>
        </p:txBody>
      </p:sp>
      <p:sp>
        <p:nvSpPr>
          <p:cNvPr id="3" name="Rectangle 2"/>
          <p:cNvSpPr/>
          <p:nvPr/>
        </p:nvSpPr>
        <p:spPr>
          <a:xfrm>
            <a:off x="603504" y="832104"/>
            <a:ext cx="713232" cy="50292"/>
          </a:xfrm>
          <a:prstGeom prst="rect">
            <a:avLst/>
          </a:prstGeom>
          <a:solidFill>
            <a:srgbClr val="46D2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509760" y="310896"/>
            <a:ext cx="2057400" cy="274320"/>
          </a:xfrm>
          <a:prstGeom prst="rect">
            <a:avLst/>
          </a:prstGeom>
          <a:noFill/>
        </p:spPr>
        <p:txBody>
          <a:bodyPr wrap="square" lIns="36576" rIns="36576" tIns="36576" bIns="36576" anchor="t">
            <a:spAutoFit/>
          </a:bodyPr>
          <a:lstStyle/>
          <a:p>
            <a:pPr algn="r">
              <a:spcAft>
                <a:spcPts val="400"/>
              </a:spcAft>
            </a:pPr>
            <a:r>
              <a:rPr sz="900" b="1">
                <a:solidFill>
                  <a:srgbClr val="46D287"/>
                </a:solidFill>
                <a:latin typeface="Aptos"/>
              </a:rPr>
              <a:t>06 • REPORT MOCKUP</a:t>
            </a:r>
          </a:p>
        </p:txBody>
      </p:sp>
      <p:sp>
        <p:nvSpPr>
          <p:cNvPr id="5" name="Rounded Rectangle 4"/>
          <p:cNvSpPr/>
          <p:nvPr/>
        </p:nvSpPr>
        <p:spPr>
          <a:xfrm>
            <a:off x="594360" y="1143000"/>
            <a:ext cx="10972800" cy="5074920"/>
          </a:xfrm>
          <a:prstGeom prst="roundRect">
            <a:avLst>
              <a:gd name="adj" fmla="val 12000"/>
            </a:avLst>
          </a:prstGeom>
          <a:solidFill>
            <a:srgbClr val="111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1307592"/>
            <a:ext cx="4937760" cy="274320"/>
          </a:xfrm>
          <a:prstGeom prst="rect">
            <a:avLst/>
          </a:prstGeom>
          <a:noFill/>
        </p:spPr>
        <p:txBody>
          <a:bodyPr wrap="square" lIns="36576" rIns="36576" tIns="36576" bIns="36576" anchor="t">
            <a:spAutoFit/>
          </a:bodyPr>
          <a:lstStyle/>
          <a:p>
            <a:pPr>
              <a:spcAft>
                <a:spcPts val="400"/>
              </a:spcAft>
            </a:pPr>
            <a:r>
              <a:rPr sz="1300" b="1">
                <a:solidFill>
                  <a:srgbClr val="F5F8FC"/>
                </a:solidFill>
                <a:latin typeface="Aptos"/>
              </a:rPr>
              <a:t>IPL TEAM PERFORMANCE | REPORT MOCKUP</a:t>
            </a:r>
          </a:p>
        </p:txBody>
      </p:sp>
      <p:sp>
        <p:nvSpPr>
          <p:cNvPr id="7" name="Rounded Rectangle 6"/>
          <p:cNvSpPr/>
          <p:nvPr/>
        </p:nvSpPr>
        <p:spPr>
          <a:xfrm>
            <a:off x="7315200" y="1261872"/>
            <a:ext cx="1508760" cy="384048"/>
          </a:xfrm>
          <a:prstGeom prst="roundRect">
            <a:avLst>
              <a:gd name="adj" fmla="val 12000"/>
            </a:avLst>
          </a:prstGeom>
          <a:solidFill>
            <a:srgbClr val="1E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88352" y="1353312"/>
            <a:ext cx="1362456" cy="164592"/>
          </a:xfrm>
          <a:prstGeom prst="rect">
            <a:avLst/>
          </a:prstGeom>
          <a:noFill/>
        </p:spPr>
        <p:txBody>
          <a:bodyPr wrap="square" lIns="36576" rIns="36576" tIns="36576" bIns="36576" anchor="t">
            <a:spAutoFit/>
          </a:bodyPr>
          <a:lstStyle/>
          <a:p>
            <a:pPr>
              <a:spcAft>
                <a:spcPts val="400"/>
              </a:spcAft>
            </a:pPr>
            <a:r>
              <a:rPr sz="900" b="0">
                <a:solidFill>
                  <a:srgbClr val="AEBECF"/>
                </a:solidFill>
                <a:latin typeface="Aptos"/>
              </a:rPr>
              <a:t>Season ▾</a:t>
            </a:r>
          </a:p>
        </p:txBody>
      </p:sp>
      <p:sp>
        <p:nvSpPr>
          <p:cNvPr id="9" name="Rounded Rectangle 8"/>
          <p:cNvSpPr/>
          <p:nvPr/>
        </p:nvSpPr>
        <p:spPr>
          <a:xfrm>
            <a:off x="8668512" y="1261872"/>
            <a:ext cx="1417320" cy="384048"/>
          </a:xfrm>
          <a:prstGeom prst="roundRect">
            <a:avLst>
              <a:gd name="adj" fmla="val 12000"/>
            </a:avLst>
          </a:prstGeom>
          <a:solidFill>
            <a:srgbClr val="1E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41664" y="1353312"/>
            <a:ext cx="1271016" cy="164592"/>
          </a:xfrm>
          <a:prstGeom prst="rect">
            <a:avLst/>
          </a:prstGeom>
          <a:noFill/>
        </p:spPr>
        <p:txBody>
          <a:bodyPr wrap="square" lIns="36576" rIns="36576" tIns="36576" bIns="36576" anchor="t">
            <a:spAutoFit/>
          </a:bodyPr>
          <a:lstStyle/>
          <a:p>
            <a:pPr>
              <a:spcAft>
                <a:spcPts val="400"/>
              </a:spcAft>
            </a:pPr>
            <a:r>
              <a:rPr sz="900" b="0">
                <a:solidFill>
                  <a:srgbClr val="AEBECF"/>
                </a:solidFill>
                <a:latin typeface="Aptos"/>
              </a:rPr>
              <a:t>Team ▾</a:t>
            </a:r>
          </a:p>
        </p:txBody>
      </p:sp>
      <p:sp>
        <p:nvSpPr>
          <p:cNvPr id="11" name="Rounded Rectangle 10"/>
          <p:cNvSpPr/>
          <p:nvPr/>
        </p:nvSpPr>
        <p:spPr>
          <a:xfrm>
            <a:off x="10021824" y="1261872"/>
            <a:ext cx="1508760" cy="384048"/>
          </a:xfrm>
          <a:prstGeom prst="roundRect">
            <a:avLst>
              <a:gd name="adj" fmla="val 12000"/>
            </a:avLst>
          </a:prstGeom>
          <a:solidFill>
            <a:srgbClr val="1E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94976" y="1353312"/>
            <a:ext cx="1362456" cy="164592"/>
          </a:xfrm>
          <a:prstGeom prst="rect">
            <a:avLst/>
          </a:prstGeom>
          <a:noFill/>
        </p:spPr>
        <p:txBody>
          <a:bodyPr wrap="square" lIns="36576" rIns="36576" tIns="36576" bIns="36576" anchor="t">
            <a:spAutoFit/>
          </a:bodyPr>
          <a:lstStyle/>
          <a:p>
            <a:pPr>
              <a:spcAft>
                <a:spcPts val="400"/>
              </a:spcAft>
            </a:pPr>
            <a:r>
              <a:rPr sz="900" b="0">
                <a:solidFill>
                  <a:srgbClr val="AEBECF"/>
                </a:solidFill>
                <a:latin typeface="Aptos"/>
              </a:rPr>
              <a:t>Venue ▾</a:t>
            </a:r>
          </a:p>
        </p:txBody>
      </p:sp>
      <p:sp>
        <p:nvSpPr>
          <p:cNvPr id="13" name="Rounded Rectangle 12"/>
          <p:cNvSpPr/>
          <p:nvPr/>
        </p:nvSpPr>
        <p:spPr>
          <a:xfrm>
            <a:off x="841248" y="1847088"/>
            <a:ext cx="2395728" cy="749808"/>
          </a:xfrm>
          <a:prstGeom prst="roundRect">
            <a:avLst>
              <a:gd name="adj" fmla="val 12000"/>
            </a:avLst>
          </a:prstGeom>
          <a:solidFill>
            <a:srgbClr val="17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0976" y="1947672"/>
            <a:ext cx="2176272" cy="164592"/>
          </a:xfrm>
          <a:prstGeom prst="rect">
            <a:avLst/>
          </a:prstGeom>
          <a:noFill/>
        </p:spPr>
        <p:txBody>
          <a:bodyPr wrap="square" lIns="36576" rIns="36576" tIns="36576" bIns="36576" anchor="t">
            <a:spAutoFit/>
          </a:bodyPr>
          <a:lstStyle/>
          <a:p>
            <a:pPr>
              <a:spcAft>
                <a:spcPts val="400"/>
              </a:spcAft>
            </a:pPr>
            <a:r>
              <a:rPr sz="900" b="0">
                <a:solidFill>
                  <a:srgbClr val="AEBECF"/>
                </a:solidFill>
                <a:latin typeface="Aptos"/>
              </a:rPr>
              <a:t>Seasons completed</a:t>
            </a:r>
          </a:p>
        </p:txBody>
      </p:sp>
      <p:sp>
        <p:nvSpPr>
          <p:cNvPr id="15" name="TextBox 14"/>
          <p:cNvSpPr txBox="1"/>
          <p:nvPr/>
        </p:nvSpPr>
        <p:spPr>
          <a:xfrm>
            <a:off x="950976" y="2185416"/>
            <a:ext cx="2176272" cy="256032"/>
          </a:xfrm>
          <a:prstGeom prst="rect">
            <a:avLst/>
          </a:prstGeom>
          <a:noFill/>
        </p:spPr>
        <p:txBody>
          <a:bodyPr wrap="square" lIns="36576" rIns="36576" tIns="36576" bIns="36576" anchor="t">
            <a:spAutoFit/>
          </a:bodyPr>
          <a:lstStyle/>
          <a:p>
            <a:pPr>
              <a:spcAft>
                <a:spcPts val="400"/>
              </a:spcAft>
            </a:pPr>
            <a:r>
              <a:rPr sz="1600" b="1">
                <a:solidFill>
                  <a:srgbClr val="46D287"/>
                </a:solidFill>
                <a:latin typeface="Aptos"/>
              </a:rPr>
              <a:t>19 seasons</a:t>
            </a:r>
          </a:p>
        </p:txBody>
      </p:sp>
      <p:sp>
        <p:nvSpPr>
          <p:cNvPr id="16" name="Rounded Rectangle 15"/>
          <p:cNvSpPr/>
          <p:nvPr/>
        </p:nvSpPr>
        <p:spPr>
          <a:xfrm>
            <a:off x="3474720" y="1847088"/>
            <a:ext cx="2395728" cy="749808"/>
          </a:xfrm>
          <a:prstGeom prst="roundRect">
            <a:avLst>
              <a:gd name="adj" fmla="val 12000"/>
            </a:avLst>
          </a:prstGeom>
          <a:solidFill>
            <a:srgbClr val="17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84448" y="1947672"/>
            <a:ext cx="2176272" cy="164592"/>
          </a:xfrm>
          <a:prstGeom prst="rect">
            <a:avLst/>
          </a:prstGeom>
          <a:noFill/>
        </p:spPr>
        <p:txBody>
          <a:bodyPr wrap="square" lIns="36576" rIns="36576" tIns="36576" bIns="36576" anchor="t">
            <a:spAutoFit/>
          </a:bodyPr>
          <a:lstStyle/>
          <a:p>
            <a:pPr>
              <a:spcAft>
                <a:spcPts val="400"/>
              </a:spcAft>
            </a:pPr>
            <a:r>
              <a:rPr sz="900" b="0">
                <a:solidFill>
                  <a:srgbClr val="AEBECF"/>
                </a:solidFill>
                <a:latin typeface="Aptos"/>
              </a:rPr>
              <a:t>Different champions</a:t>
            </a:r>
          </a:p>
        </p:txBody>
      </p:sp>
      <p:sp>
        <p:nvSpPr>
          <p:cNvPr id="18" name="TextBox 17"/>
          <p:cNvSpPr txBox="1"/>
          <p:nvPr/>
        </p:nvSpPr>
        <p:spPr>
          <a:xfrm>
            <a:off x="3584448" y="2185416"/>
            <a:ext cx="2176272" cy="256032"/>
          </a:xfrm>
          <a:prstGeom prst="rect">
            <a:avLst/>
          </a:prstGeom>
          <a:noFill/>
        </p:spPr>
        <p:txBody>
          <a:bodyPr wrap="square" lIns="36576" rIns="36576" tIns="36576" bIns="36576" anchor="t">
            <a:spAutoFit/>
          </a:bodyPr>
          <a:lstStyle/>
          <a:p>
            <a:pPr>
              <a:spcAft>
                <a:spcPts val="400"/>
              </a:spcAft>
            </a:pPr>
            <a:r>
              <a:rPr sz="1600" b="1">
                <a:solidFill>
                  <a:srgbClr val="FF9141"/>
                </a:solidFill>
                <a:latin typeface="Aptos"/>
              </a:rPr>
              <a:t>8 champions</a:t>
            </a:r>
          </a:p>
        </p:txBody>
      </p:sp>
      <p:sp>
        <p:nvSpPr>
          <p:cNvPr id="19" name="Rounded Rectangle 18"/>
          <p:cNvSpPr/>
          <p:nvPr/>
        </p:nvSpPr>
        <p:spPr>
          <a:xfrm>
            <a:off x="6108192" y="1847088"/>
            <a:ext cx="2395728" cy="749808"/>
          </a:xfrm>
          <a:prstGeom prst="roundRect">
            <a:avLst>
              <a:gd name="adj" fmla="val 12000"/>
            </a:avLst>
          </a:prstGeom>
          <a:solidFill>
            <a:srgbClr val="17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947672"/>
            <a:ext cx="2176272" cy="164592"/>
          </a:xfrm>
          <a:prstGeom prst="rect">
            <a:avLst/>
          </a:prstGeom>
          <a:noFill/>
        </p:spPr>
        <p:txBody>
          <a:bodyPr wrap="square" lIns="36576" rIns="36576" tIns="36576" bIns="36576" anchor="t">
            <a:spAutoFit/>
          </a:bodyPr>
          <a:lstStyle/>
          <a:p>
            <a:pPr>
              <a:spcAft>
                <a:spcPts val="400"/>
              </a:spcAft>
            </a:pPr>
            <a:r>
              <a:rPr sz="900" b="0">
                <a:solidFill>
                  <a:srgbClr val="AEBECF"/>
                </a:solidFill>
                <a:latin typeface="Aptos"/>
              </a:rPr>
              <a:t>2026 top scorer</a:t>
            </a:r>
          </a:p>
        </p:txBody>
      </p:sp>
      <p:sp>
        <p:nvSpPr>
          <p:cNvPr id="21" name="TextBox 20"/>
          <p:cNvSpPr txBox="1"/>
          <p:nvPr/>
        </p:nvSpPr>
        <p:spPr>
          <a:xfrm>
            <a:off x="6217920" y="2185416"/>
            <a:ext cx="2176272" cy="256032"/>
          </a:xfrm>
          <a:prstGeom prst="rect">
            <a:avLst/>
          </a:prstGeom>
          <a:noFill/>
        </p:spPr>
        <p:txBody>
          <a:bodyPr wrap="square" lIns="36576" rIns="36576" tIns="36576" bIns="36576" anchor="t">
            <a:spAutoFit/>
          </a:bodyPr>
          <a:lstStyle/>
          <a:p>
            <a:pPr>
              <a:spcAft>
                <a:spcPts val="400"/>
              </a:spcAft>
            </a:pPr>
            <a:r>
              <a:rPr sz="1600" b="1">
                <a:solidFill>
                  <a:srgbClr val="4A97FF"/>
                </a:solidFill>
                <a:latin typeface="Aptos"/>
              </a:rPr>
              <a:t>776 runs</a:t>
            </a:r>
          </a:p>
        </p:txBody>
      </p:sp>
      <p:sp>
        <p:nvSpPr>
          <p:cNvPr id="22" name="Rounded Rectangle 21"/>
          <p:cNvSpPr/>
          <p:nvPr/>
        </p:nvSpPr>
        <p:spPr>
          <a:xfrm>
            <a:off x="8741664" y="1847088"/>
            <a:ext cx="2395728" cy="749808"/>
          </a:xfrm>
          <a:prstGeom prst="roundRect">
            <a:avLst>
              <a:gd name="adj" fmla="val 12000"/>
            </a:avLst>
          </a:prstGeom>
          <a:solidFill>
            <a:srgbClr val="17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851392" y="1947672"/>
            <a:ext cx="2176272" cy="164592"/>
          </a:xfrm>
          <a:prstGeom prst="rect">
            <a:avLst/>
          </a:prstGeom>
          <a:noFill/>
        </p:spPr>
        <p:txBody>
          <a:bodyPr wrap="square" lIns="36576" rIns="36576" tIns="36576" bIns="36576" anchor="t">
            <a:spAutoFit/>
          </a:bodyPr>
          <a:lstStyle/>
          <a:p>
            <a:pPr>
              <a:spcAft>
                <a:spcPts val="400"/>
              </a:spcAft>
            </a:pPr>
            <a:r>
              <a:rPr sz="900" b="0">
                <a:solidFill>
                  <a:srgbClr val="AEBECF"/>
                </a:solidFill>
                <a:latin typeface="Aptos"/>
              </a:rPr>
              <a:t>2026 top wicket-taker</a:t>
            </a:r>
          </a:p>
        </p:txBody>
      </p:sp>
      <p:sp>
        <p:nvSpPr>
          <p:cNvPr id="24" name="TextBox 23"/>
          <p:cNvSpPr txBox="1"/>
          <p:nvPr/>
        </p:nvSpPr>
        <p:spPr>
          <a:xfrm>
            <a:off x="8851392" y="2185416"/>
            <a:ext cx="2176272" cy="256032"/>
          </a:xfrm>
          <a:prstGeom prst="rect">
            <a:avLst/>
          </a:prstGeom>
          <a:noFill/>
        </p:spPr>
        <p:txBody>
          <a:bodyPr wrap="square" lIns="36576" rIns="36576" tIns="36576" bIns="36576" anchor="t">
            <a:spAutoFit/>
          </a:bodyPr>
          <a:lstStyle/>
          <a:p>
            <a:pPr>
              <a:spcAft>
                <a:spcPts val="400"/>
              </a:spcAft>
            </a:pPr>
            <a:r>
              <a:rPr sz="1600" b="1">
                <a:solidFill>
                  <a:srgbClr val="FFD055"/>
                </a:solidFill>
                <a:latin typeface="Aptos"/>
              </a:rPr>
              <a:t>29 wkts</a:t>
            </a:r>
          </a:p>
        </p:txBody>
      </p:sp>
      <p:sp>
        <p:nvSpPr>
          <p:cNvPr id="25" name="Rounded Rectangle 24"/>
          <p:cNvSpPr/>
          <p:nvPr/>
        </p:nvSpPr>
        <p:spPr>
          <a:xfrm>
            <a:off x="841248" y="2788920"/>
            <a:ext cx="5074920" cy="1417320"/>
          </a:xfrm>
          <a:prstGeom prst="roundRect">
            <a:avLst>
              <a:gd name="adj" fmla="val 12000"/>
            </a:avLst>
          </a:prstGeom>
          <a:solidFill>
            <a:srgbClr val="17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4128" y="2907792"/>
            <a:ext cx="4572000" cy="201168"/>
          </a:xfrm>
          <a:prstGeom prst="rect">
            <a:avLst/>
          </a:prstGeom>
          <a:noFill/>
        </p:spPr>
        <p:txBody>
          <a:bodyPr wrap="square" lIns="36576" rIns="36576" tIns="36576" bIns="36576" anchor="t">
            <a:spAutoFit/>
          </a:bodyPr>
          <a:lstStyle/>
          <a:p>
            <a:pPr>
              <a:spcAft>
                <a:spcPts val="400"/>
              </a:spcAft>
            </a:pPr>
            <a:r>
              <a:rPr sz="1000" b="1">
                <a:solidFill>
                  <a:srgbClr val="46D287"/>
                </a:solidFill>
                <a:latin typeface="Aptos"/>
              </a:rPr>
              <a:t>IPL TITLES BY TEAM • HISTORICAL</a:t>
            </a:r>
          </a:p>
        </p:txBody>
      </p:sp>
      <p:sp>
        <p:nvSpPr>
          <p:cNvPr id="27" name="Rectangle 26"/>
          <p:cNvSpPr/>
          <p:nvPr/>
        </p:nvSpPr>
        <p:spPr>
          <a:xfrm>
            <a:off x="1234440" y="3383279"/>
            <a:ext cx="365760" cy="594360"/>
          </a:xfrm>
          <a:prstGeom prst="rect">
            <a:avLst/>
          </a:prstGeom>
          <a:solidFill>
            <a:srgbClr val="46D2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020824" y="3154679"/>
            <a:ext cx="365760" cy="822960"/>
          </a:xfrm>
          <a:prstGeom prst="rect">
            <a:avLst/>
          </a:prstGeom>
          <a:solidFill>
            <a:srgbClr val="FF9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807208" y="3520439"/>
            <a:ext cx="365760" cy="457200"/>
          </a:xfrm>
          <a:prstGeom prst="rect">
            <a:avLst/>
          </a:prstGeom>
          <a:solidFill>
            <a:srgbClr val="4A9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593592" y="2971799"/>
            <a:ext cx="365760" cy="1005840"/>
          </a:xfrm>
          <a:prstGeom prst="rect">
            <a:avLst/>
          </a:prstGeom>
          <a:solidFill>
            <a:srgbClr val="FFD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379976" y="3246120"/>
            <a:ext cx="365760" cy="731520"/>
          </a:xfrm>
          <a:prstGeom prst="rect">
            <a:avLst/>
          </a:prstGeom>
          <a:solidFill>
            <a:srgbClr val="46D2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126480" y="2788920"/>
            <a:ext cx="5074920" cy="1417320"/>
          </a:xfrm>
          <a:prstGeom prst="roundRect">
            <a:avLst>
              <a:gd name="adj" fmla="val 12000"/>
            </a:avLst>
          </a:prstGeom>
          <a:solidFill>
            <a:srgbClr val="17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27648" y="2907792"/>
            <a:ext cx="4572000" cy="201168"/>
          </a:xfrm>
          <a:prstGeom prst="rect">
            <a:avLst/>
          </a:prstGeom>
          <a:noFill/>
        </p:spPr>
        <p:txBody>
          <a:bodyPr wrap="square" lIns="36576" rIns="36576" tIns="36576" bIns="36576" anchor="t">
            <a:spAutoFit/>
          </a:bodyPr>
          <a:lstStyle/>
          <a:p>
            <a:pPr>
              <a:spcAft>
                <a:spcPts val="400"/>
              </a:spcAft>
            </a:pPr>
            <a:r>
              <a:rPr sz="1000" b="1">
                <a:solidFill>
                  <a:srgbClr val="FF9141"/>
                </a:solidFill>
                <a:latin typeface="Aptos"/>
              </a:rPr>
              <a:t>RECENT CHAMPIONS • 2022–2026</a:t>
            </a:r>
          </a:p>
        </p:txBody>
      </p:sp>
      <p:sp>
        <p:nvSpPr>
          <p:cNvPr id="34" name="Rectangle 33"/>
          <p:cNvSpPr/>
          <p:nvPr/>
        </p:nvSpPr>
        <p:spPr>
          <a:xfrm rot="20493903">
            <a:off x="6492240" y="3886200"/>
            <a:ext cx="867476" cy="32004"/>
          </a:xfrm>
          <a:prstGeom prst="rect">
            <a:avLst/>
          </a:prstGeom>
          <a:solidFill>
            <a:srgbClr val="FF9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rot="493153">
            <a:off x="7315200" y="3611880"/>
            <a:ext cx="831500" cy="32004"/>
          </a:xfrm>
          <a:prstGeom prst="rect">
            <a:avLst/>
          </a:prstGeom>
          <a:solidFill>
            <a:srgbClr val="FF9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rot="20291915">
            <a:off x="8138160" y="3730752"/>
            <a:ext cx="886355" cy="32004"/>
          </a:xfrm>
          <a:prstGeom prst="rect">
            <a:avLst/>
          </a:prstGeom>
          <a:solidFill>
            <a:srgbClr val="FF9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rot="493153">
            <a:off x="8961120" y="3401568"/>
            <a:ext cx="831500" cy="32004"/>
          </a:xfrm>
          <a:prstGeom prst="rect">
            <a:avLst/>
          </a:prstGeom>
          <a:solidFill>
            <a:srgbClr val="FF9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rot="20162251">
            <a:off x="9784080" y="3520440"/>
            <a:ext cx="900579" cy="32004"/>
          </a:xfrm>
          <a:prstGeom prst="rect">
            <a:avLst/>
          </a:prstGeom>
          <a:solidFill>
            <a:srgbClr val="FF9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6446520" y="3840480"/>
            <a:ext cx="109728" cy="109728"/>
          </a:xfrm>
          <a:prstGeom prst="ellipse">
            <a:avLst/>
          </a:prstGeom>
          <a:solidFill>
            <a:srgbClr val="FF9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269480" y="3566160"/>
            <a:ext cx="109728" cy="109728"/>
          </a:xfrm>
          <a:prstGeom prst="ellipse">
            <a:avLst/>
          </a:prstGeom>
          <a:solidFill>
            <a:srgbClr val="FF9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8092440" y="3685032"/>
            <a:ext cx="109728" cy="109728"/>
          </a:xfrm>
          <a:prstGeom prst="ellipse">
            <a:avLst/>
          </a:prstGeom>
          <a:solidFill>
            <a:srgbClr val="FF9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8915400" y="3355848"/>
            <a:ext cx="109728" cy="109728"/>
          </a:xfrm>
          <a:prstGeom prst="ellipse">
            <a:avLst/>
          </a:prstGeom>
          <a:solidFill>
            <a:srgbClr val="FF9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9738359" y="3474720"/>
            <a:ext cx="109728" cy="109728"/>
          </a:xfrm>
          <a:prstGeom prst="ellipse">
            <a:avLst/>
          </a:prstGeom>
          <a:solidFill>
            <a:srgbClr val="FF9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561319" y="3108960"/>
            <a:ext cx="109728" cy="109728"/>
          </a:xfrm>
          <a:prstGeom prst="ellipse">
            <a:avLst/>
          </a:prstGeom>
          <a:solidFill>
            <a:srgbClr val="FF9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841248" y="4407408"/>
            <a:ext cx="5074920" cy="1417320"/>
          </a:xfrm>
          <a:prstGeom prst="roundRect">
            <a:avLst>
              <a:gd name="adj" fmla="val 12000"/>
            </a:avLst>
          </a:prstGeom>
          <a:solidFill>
            <a:srgbClr val="17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24128" y="4553712"/>
            <a:ext cx="4572000" cy="201168"/>
          </a:xfrm>
          <a:prstGeom prst="rect">
            <a:avLst/>
          </a:prstGeom>
          <a:noFill/>
        </p:spPr>
        <p:txBody>
          <a:bodyPr wrap="square" lIns="36576" rIns="36576" tIns="36576" bIns="36576" anchor="t">
            <a:spAutoFit/>
          </a:bodyPr>
          <a:lstStyle/>
          <a:p>
            <a:pPr>
              <a:spcAft>
                <a:spcPts val="400"/>
              </a:spcAft>
            </a:pPr>
            <a:r>
              <a:rPr sz="1000" b="1">
                <a:solidFill>
                  <a:srgbClr val="4A97FF"/>
                </a:solidFill>
                <a:latin typeface="Aptos"/>
              </a:rPr>
              <a:t>BATTING / BOWLING SUMMARY</a:t>
            </a:r>
          </a:p>
        </p:txBody>
      </p:sp>
      <p:sp>
        <p:nvSpPr>
          <p:cNvPr id="47" name="TextBox 46"/>
          <p:cNvSpPr txBox="1"/>
          <p:nvPr/>
        </p:nvSpPr>
        <p:spPr>
          <a:xfrm>
            <a:off x="1024128" y="4892040"/>
            <a:ext cx="4572000" cy="640080"/>
          </a:xfrm>
          <a:prstGeom prst="rect">
            <a:avLst/>
          </a:prstGeom>
          <a:noFill/>
        </p:spPr>
        <p:txBody>
          <a:bodyPr wrap="square" lIns="36576" rIns="36576" tIns="36576" bIns="36576" anchor="t">
            <a:spAutoFit/>
          </a:bodyPr>
          <a:lstStyle/>
          <a:p>
            <a:pPr>
              <a:spcAft>
                <a:spcPts val="400"/>
              </a:spcAft>
            </a:pPr>
            <a:r>
              <a:rPr sz="1100" b="0">
                <a:solidFill>
                  <a:srgbClr val="AEBECF"/>
                </a:solidFill>
                <a:latin typeface="Aptos"/>
              </a:rPr>
              <a:t>2026: Sooryavanshi 776 runs • Rabada 29 wickets</a:t>
            </a:r>
          </a:p>
        </p:txBody>
      </p:sp>
      <p:sp>
        <p:nvSpPr>
          <p:cNvPr id="48" name="Rounded Rectangle 47"/>
          <p:cNvSpPr/>
          <p:nvPr/>
        </p:nvSpPr>
        <p:spPr>
          <a:xfrm>
            <a:off x="6126480" y="4407408"/>
            <a:ext cx="5074920" cy="1417320"/>
          </a:xfrm>
          <a:prstGeom prst="roundRect">
            <a:avLst>
              <a:gd name="adj" fmla="val 12000"/>
            </a:avLst>
          </a:prstGeom>
          <a:solidFill>
            <a:srgbClr val="17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327648" y="4553712"/>
            <a:ext cx="4572000" cy="201168"/>
          </a:xfrm>
          <a:prstGeom prst="rect">
            <a:avLst/>
          </a:prstGeom>
          <a:noFill/>
        </p:spPr>
        <p:txBody>
          <a:bodyPr wrap="square" lIns="36576" rIns="36576" tIns="36576" bIns="36576" anchor="t">
            <a:spAutoFit/>
          </a:bodyPr>
          <a:lstStyle/>
          <a:p>
            <a:pPr>
              <a:spcAft>
                <a:spcPts val="400"/>
              </a:spcAft>
            </a:pPr>
            <a:r>
              <a:rPr sz="1000" b="1">
                <a:solidFill>
                  <a:srgbClr val="FFD055"/>
                </a:solidFill>
                <a:latin typeface="Aptos"/>
              </a:rPr>
              <a:t>CHAMPIONS BY SEASON</a:t>
            </a:r>
          </a:p>
        </p:txBody>
      </p:sp>
      <p:sp>
        <p:nvSpPr>
          <p:cNvPr id="50" name="TextBox 49"/>
          <p:cNvSpPr txBox="1"/>
          <p:nvPr/>
        </p:nvSpPr>
        <p:spPr>
          <a:xfrm>
            <a:off x="6327648" y="4892040"/>
            <a:ext cx="4572000" cy="640080"/>
          </a:xfrm>
          <a:prstGeom prst="rect">
            <a:avLst/>
          </a:prstGeom>
          <a:noFill/>
        </p:spPr>
        <p:txBody>
          <a:bodyPr wrap="square" lIns="36576" rIns="36576" tIns="36576" bIns="36576" anchor="t">
            <a:spAutoFit/>
          </a:bodyPr>
          <a:lstStyle/>
          <a:p>
            <a:pPr>
              <a:spcAft>
                <a:spcPts val="400"/>
              </a:spcAft>
            </a:pPr>
            <a:r>
              <a:rPr sz="1100" b="0">
                <a:solidFill>
                  <a:srgbClr val="AEBECF"/>
                </a:solidFill>
                <a:latin typeface="Aptos"/>
              </a:rPr>
              <a:t>2022 GT • 2023 CSK • 2024 KKR • 2025 RCB • 2026 RCB</a:t>
            </a:r>
          </a:p>
        </p:txBody>
      </p:sp>
      <p:sp>
        <p:nvSpPr>
          <p:cNvPr id="51" name="TextBox 50"/>
          <p:cNvSpPr txBox="1"/>
          <p:nvPr/>
        </p:nvSpPr>
        <p:spPr>
          <a:xfrm>
            <a:off x="868680" y="5916168"/>
            <a:ext cx="10241280" cy="164592"/>
          </a:xfrm>
          <a:prstGeom prst="rect">
            <a:avLst/>
          </a:prstGeom>
          <a:noFill/>
        </p:spPr>
        <p:txBody>
          <a:bodyPr wrap="square" lIns="36576" rIns="36576" tIns="27432" bIns="27432">
            <a:spAutoFit/>
          </a:bodyPr>
          <a:lstStyle/>
          <a:p>
            <a:r>
              <a:rPr sz="800" b="1">
                <a:solidFill>
                  <a:srgbClr val="FF9141"/>
                </a:solidFill>
                <a:latin typeface="Aptos"/>
              </a:rPr>
              <a:t>Headline facts are verified; mini-chart marks remain visual placeholders. Build the full chart from the source dataset.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C1424"/>
        </a:solidFill>
        <a:effectLst/>
      </p:bgPr>
    </p:bg>
    <p:spTree>
      <p:nvGrpSpPr>
        <p:cNvPr id="1" name=""/>
        <p:cNvGrpSpPr/>
        <p:nvPr/>
      </p:nvGrpSpPr>
      <p:grpSpPr/>
      <p:sp>
        <p:nvSpPr>
          <p:cNvPr id="2" name="TextBox 1"/>
          <p:cNvSpPr txBox="1"/>
          <p:nvPr/>
        </p:nvSpPr>
        <p:spPr>
          <a:xfrm>
            <a:off x="594360" y="256032"/>
            <a:ext cx="10881360" cy="475488"/>
          </a:xfrm>
          <a:prstGeom prst="rect">
            <a:avLst/>
          </a:prstGeom>
          <a:noFill/>
        </p:spPr>
        <p:txBody>
          <a:bodyPr wrap="square" lIns="36576" rIns="36576" tIns="36576" bIns="36576" anchor="t">
            <a:spAutoFit/>
          </a:bodyPr>
          <a:lstStyle/>
          <a:p>
            <a:pPr>
              <a:spcAft>
                <a:spcPts val="400"/>
              </a:spcAft>
            </a:pPr>
            <a:r>
              <a:rPr sz="2700" b="1">
                <a:solidFill>
                  <a:srgbClr val="F5F8FC"/>
                </a:solidFill>
                <a:latin typeface="Aptos"/>
              </a:rPr>
              <a:t>IPL 2027 Prediction Methodology</a:t>
            </a:r>
          </a:p>
        </p:txBody>
      </p:sp>
      <p:sp>
        <p:nvSpPr>
          <p:cNvPr id="3" name="Rectangle 2"/>
          <p:cNvSpPr/>
          <p:nvPr/>
        </p:nvSpPr>
        <p:spPr>
          <a:xfrm>
            <a:off x="603504" y="832104"/>
            <a:ext cx="713232" cy="50292"/>
          </a:xfrm>
          <a:prstGeom prst="rect">
            <a:avLst/>
          </a:prstGeom>
          <a:solidFill>
            <a:srgbClr val="46D2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509760" y="310896"/>
            <a:ext cx="2057400" cy="274320"/>
          </a:xfrm>
          <a:prstGeom prst="rect">
            <a:avLst/>
          </a:prstGeom>
          <a:noFill/>
        </p:spPr>
        <p:txBody>
          <a:bodyPr wrap="square" lIns="36576" rIns="36576" tIns="36576" bIns="36576" anchor="t">
            <a:spAutoFit/>
          </a:bodyPr>
          <a:lstStyle/>
          <a:p>
            <a:pPr algn="r">
              <a:spcAft>
                <a:spcPts val="400"/>
              </a:spcAft>
            </a:pPr>
            <a:r>
              <a:rPr sz="900" b="1">
                <a:solidFill>
                  <a:srgbClr val="46D287"/>
                </a:solidFill>
                <a:latin typeface="Aptos"/>
              </a:rPr>
              <a:t>07 • MODEL DESIGN</a:t>
            </a:r>
          </a:p>
        </p:txBody>
      </p:sp>
      <p:sp>
        <p:nvSpPr>
          <p:cNvPr id="5" name="TextBox 4"/>
          <p:cNvSpPr txBox="1"/>
          <p:nvPr/>
        </p:nvSpPr>
        <p:spPr>
          <a:xfrm>
            <a:off x="713232" y="1188720"/>
            <a:ext cx="5029200" cy="292608"/>
          </a:xfrm>
          <a:prstGeom prst="rect">
            <a:avLst/>
          </a:prstGeom>
          <a:noFill/>
        </p:spPr>
        <p:txBody>
          <a:bodyPr wrap="square" lIns="36576" rIns="36576" tIns="36576" bIns="36576" anchor="t">
            <a:spAutoFit/>
          </a:bodyPr>
          <a:lstStyle/>
          <a:p>
            <a:pPr>
              <a:spcAft>
                <a:spcPts val="400"/>
              </a:spcAft>
            </a:pPr>
            <a:r>
              <a:rPr sz="1500" b="1">
                <a:solidFill>
                  <a:srgbClr val="46D287"/>
                </a:solidFill>
                <a:latin typeface="Aptos"/>
              </a:rPr>
              <a:t>PROPOSED WEIGHTED SCORE</a:t>
            </a:r>
          </a:p>
        </p:txBody>
      </p:sp>
      <p:sp>
        <p:nvSpPr>
          <p:cNvPr id="6" name="TextBox 5"/>
          <p:cNvSpPr txBox="1"/>
          <p:nvPr/>
        </p:nvSpPr>
        <p:spPr>
          <a:xfrm>
            <a:off x="749808" y="1664208"/>
            <a:ext cx="1600200" cy="228600"/>
          </a:xfrm>
          <a:prstGeom prst="rect">
            <a:avLst/>
          </a:prstGeom>
          <a:noFill/>
        </p:spPr>
        <p:txBody>
          <a:bodyPr wrap="square" lIns="36576" rIns="36576" tIns="36576" bIns="36576" anchor="t">
            <a:spAutoFit/>
          </a:bodyPr>
          <a:lstStyle/>
          <a:p>
            <a:pPr>
              <a:spcAft>
                <a:spcPts val="400"/>
              </a:spcAft>
            </a:pPr>
            <a:r>
              <a:rPr sz="1200" b="0">
                <a:solidFill>
                  <a:srgbClr val="F5F8FC"/>
                </a:solidFill>
                <a:latin typeface="Aptos"/>
              </a:rPr>
              <a:t>Recent form</a:t>
            </a:r>
          </a:p>
        </p:txBody>
      </p:sp>
      <p:sp>
        <p:nvSpPr>
          <p:cNvPr id="7" name="Rectangle 6"/>
          <p:cNvSpPr/>
          <p:nvPr/>
        </p:nvSpPr>
        <p:spPr>
          <a:xfrm>
            <a:off x="2331720" y="1682496"/>
            <a:ext cx="2331720" cy="201168"/>
          </a:xfrm>
          <a:prstGeom prst="rect">
            <a:avLst/>
          </a:prstGeom>
          <a:solidFill>
            <a:srgbClr val="1E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331720" y="1682496"/>
            <a:ext cx="2331720" cy="201168"/>
          </a:xfrm>
          <a:prstGeom prst="rect">
            <a:avLst/>
          </a:prstGeom>
          <a:solidFill>
            <a:srgbClr val="46D2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0" y="1664208"/>
            <a:ext cx="594360" cy="228600"/>
          </a:xfrm>
          <a:prstGeom prst="rect">
            <a:avLst/>
          </a:prstGeom>
          <a:noFill/>
        </p:spPr>
        <p:txBody>
          <a:bodyPr wrap="square" lIns="36576" rIns="36576" tIns="36576" bIns="36576" anchor="t">
            <a:spAutoFit/>
          </a:bodyPr>
          <a:lstStyle/>
          <a:p>
            <a:pPr>
              <a:spcAft>
                <a:spcPts val="400"/>
              </a:spcAft>
            </a:pPr>
            <a:r>
              <a:rPr sz="1100" b="1">
                <a:solidFill>
                  <a:srgbClr val="46D287"/>
                </a:solidFill>
                <a:latin typeface="Aptos"/>
              </a:rPr>
              <a:t>30%</a:t>
            </a:r>
          </a:p>
        </p:txBody>
      </p:sp>
      <p:sp>
        <p:nvSpPr>
          <p:cNvPr id="10" name="TextBox 9"/>
          <p:cNvSpPr txBox="1"/>
          <p:nvPr/>
        </p:nvSpPr>
        <p:spPr>
          <a:xfrm>
            <a:off x="749808" y="2194560"/>
            <a:ext cx="1600200" cy="228600"/>
          </a:xfrm>
          <a:prstGeom prst="rect">
            <a:avLst/>
          </a:prstGeom>
          <a:noFill/>
        </p:spPr>
        <p:txBody>
          <a:bodyPr wrap="square" lIns="36576" rIns="36576" tIns="36576" bIns="36576" anchor="t">
            <a:spAutoFit/>
          </a:bodyPr>
          <a:lstStyle/>
          <a:p>
            <a:pPr>
              <a:spcAft>
                <a:spcPts val="400"/>
              </a:spcAft>
            </a:pPr>
            <a:r>
              <a:rPr sz="1200" b="0">
                <a:solidFill>
                  <a:srgbClr val="F5F8FC"/>
                </a:solidFill>
                <a:latin typeface="Aptos"/>
              </a:rPr>
              <a:t>Batting strength</a:t>
            </a:r>
          </a:p>
        </p:txBody>
      </p:sp>
      <p:sp>
        <p:nvSpPr>
          <p:cNvPr id="11" name="Rectangle 10"/>
          <p:cNvSpPr/>
          <p:nvPr/>
        </p:nvSpPr>
        <p:spPr>
          <a:xfrm>
            <a:off x="2331720" y="2212848"/>
            <a:ext cx="2331720" cy="201168"/>
          </a:xfrm>
          <a:prstGeom prst="rect">
            <a:avLst/>
          </a:prstGeom>
          <a:solidFill>
            <a:srgbClr val="1E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2212848"/>
            <a:ext cx="1554480" cy="201168"/>
          </a:xfrm>
          <a:prstGeom prst="rect">
            <a:avLst/>
          </a:prstGeom>
          <a:solidFill>
            <a:srgbClr val="FF9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80" y="2194560"/>
            <a:ext cx="594360" cy="228600"/>
          </a:xfrm>
          <a:prstGeom prst="rect">
            <a:avLst/>
          </a:prstGeom>
          <a:noFill/>
        </p:spPr>
        <p:txBody>
          <a:bodyPr wrap="square" lIns="36576" rIns="36576" tIns="36576" bIns="36576" anchor="t">
            <a:spAutoFit/>
          </a:bodyPr>
          <a:lstStyle/>
          <a:p>
            <a:pPr>
              <a:spcAft>
                <a:spcPts val="400"/>
              </a:spcAft>
            </a:pPr>
            <a:r>
              <a:rPr sz="1100" b="1">
                <a:solidFill>
                  <a:srgbClr val="FF9141"/>
                </a:solidFill>
                <a:latin typeface="Aptos"/>
              </a:rPr>
              <a:t>20%</a:t>
            </a:r>
          </a:p>
        </p:txBody>
      </p:sp>
      <p:sp>
        <p:nvSpPr>
          <p:cNvPr id="14" name="TextBox 13"/>
          <p:cNvSpPr txBox="1"/>
          <p:nvPr/>
        </p:nvSpPr>
        <p:spPr>
          <a:xfrm>
            <a:off x="749808" y="2724912"/>
            <a:ext cx="1600200" cy="228600"/>
          </a:xfrm>
          <a:prstGeom prst="rect">
            <a:avLst/>
          </a:prstGeom>
          <a:noFill/>
        </p:spPr>
        <p:txBody>
          <a:bodyPr wrap="square" lIns="36576" rIns="36576" tIns="36576" bIns="36576" anchor="t">
            <a:spAutoFit/>
          </a:bodyPr>
          <a:lstStyle/>
          <a:p>
            <a:pPr>
              <a:spcAft>
                <a:spcPts val="400"/>
              </a:spcAft>
            </a:pPr>
            <a:r>
              <a:rPr sz="1200" b="0">
                <a:solidFill>
                  <a:srgbClr val="F5F8FC"/>
                </a:solidFill>
                <a:latin typeface="Aptos"/>
              </a:rPr>
              <a:t>Bowling strength</a:t>
            </a:r>
          </a:p>
        </p:txBody>
      </p:sp>
      <p:sp>
        <p:nvSpPr>
          <p:cNvPr id="15" name="Rectangle 14"/>
          <p:cNvSpPr/>
          <p:nvPr/>
        </p:nvSpPr>
        <p:spPr>
          <a:xfrm>
            <a:off x="2331720" y="2743200"/>
            <a:ext cx="2331720" cy="201168"/>
          </a:xfrm>
          <a:prstGeom prst="rect">
            <a:avLst/>
          </a:prstGeom>
          <a:solidFill>
            <a:srgbClr val="1E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331720" y="2743200"/>
            <a:ext cx="1554480" cy="201168"/>
          </a:xfrm>
          <a:prstGeom prst="rect">
            <a:avLst/>
          </a:prstGeom>
          <a:solidFill>
            <a:srgbClr val="4A9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54880" y="2724912"/>
            <a:ext cx="594360" cy="228600"/>
          </a:xfrm>
          <a:prstGeom prst="rect">
            <a:avLst/>
          </a:prstGeom>
          <a:noFill/>
        </p:spPr>
        <p:txBody>
          <a:bodyPr wrap="square" lIns="36576" rIns="36576" tIns="36576" bIns="36576" anchor="t">
            <a:spAutoFit/>
          </a:bodyPr>
          <a:lstStyle/>
          <a:p>
            <a:pPr>
              <a:spcAft>
                <a:spcPts val="400"/>
              </a:spcAft>
            </a:pPr>
            <a:r>
              <a:rPr sz="1100" b="1">
                <a:solidFill>
                  <a:srgbClr val="4A97FF"/>
                </a:solidFill>
                <a:latin typeface="Aptos"/>
              </a:rPr>
              <a:t>20%</a:t>
            </a:r>
          </a:p>
        </p:txBody>
      </p:sp>
      <p:sp>
        <p:nvSpPr>
          <p:cNvPr id="18" name="TextBox 17"/>
          <p:cNvSpPr txBox="1"/>
          <p:nvPr/>
        </p:nvSpPr>
        <p:spPr>
          <a:xfrm>
            <a:off x="749808" y="3255263"/>
            <a:ext cx="1600200" cy="228600"/>
          </a:xfrm>
          <a:prstGeom prst="rect">
            <a:avLst/>
          </a:prstGeom>
          <a:noFill/>
        </p:spPr>
        <p:txBody>
          <a:bodyPr wrap="square" lIns="36576" rIns="36576" tIns="36576" bIns="36576" anchor="t">
            <a:spAutoFit/>
          </a:bodyPr>
          <a:lstStyle/>
          <a:p>
            <a:pPr>
              <a:spcAft>
                <a:spcPts val="400"/>
              </a:spcAft>
            </a:pPr>
            <a:r>
              <a:rPr sz="1200" b="0">
                <a:solidFill>
                  <a:srgbClr val="F5F8FC"/>
                </a:solidFill>
                <a:latin typeface="Aptos"/>
              </a:rPr>
              <a:t>Net run rate</a:t>
            </a:r>
          </a:p>
        </p:txBody>
      </p:sp>
      <p:sp>
        <p:nvSpPr>
          <p:cNvPr id="19" name="Rectangle 18"/>
          <p:cNvSpPr/>
          <p:nvPr/>
        </p:nvSpPr>
        <p:spPr>
          <a:xfrm>
            <a:off x="2331720" y="3273551"/>
            <a:ext cx="2331720" cy="201168"/>
          </a:xfrm>
          <a:prstGeom prst="rect">
            <a:avLst/>
          </a:prstGeom>
          <a:solidFill>
            <a:srgbClr val="1E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331720" y="3273551"/>
            <a:ext cx="1165860" cy="201168"/>
          </a:xfrm>
          <a:prstGeom prst="rect">
            <a:avLst/>
          </a:prstGeom>
          <a:solidFill>
            <a:srgbClr val="FFD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54880" y="3255263"/>
            <a:ext cx="594360" cy="228600"/>
          </a:xfrm>
          <a:prstGeom prst="rect">
            <a:avLst/>
          </a:prstGeom>
          <a:noFill/>
        </p:spPr>
        <p:txBody>
          <a:bodyPr wrap="square" lIns="36576" rIns="36576" tIns="36576" bIns="36576" anchor="t">
            <a:spAutoFit/>
          </a:bodyPr>
          <a:lstStyle/>
          <a:p>
            <a:pPr>
              <a:spcAft>
                <a:spcPts val="400"/>
              </a:spcAft>
            </a:pPr>
            <a:r>
              <a:rPr sz="1100" b="1">
                <a:solidFill>
                  <a:srgbClr val="FFD055"/>
                </a:solidFill>
                <a:latin typeface="Aptos"/>
              </a:rPr>
              <a:t>15%</a:t>
            </a:r>
          </a:p>
        </p:txBody>
      </p:sp>
      <p:sp>
        <p:nvSpPr>
          <p:cNvPr id="22" name="TextBox 21"/>
          <p:cNvSpPr txBox="1"/>
          <p:nvPr/>
        </p:nvSpPr>
        <p:spPr>
          <a:xfrm>
            <a:off x="749808" y="3785615"/>
            <a:ext cx="1600200" cy="228600"/>
          </a:xfrm>
          <a:prstGeom prst="rect">
            <a:avLst/>
          </a:prstGeom>
          <a:noFill/>
        </p:spPr>
        <p:txBody>
          <a:bodyPr wrap="square" lIns="36576" rIns="36576" tIns="36576" bIns="36576" anchor="t">
            <a:spAutoFit/>
          </a:bodyPr>
          <a:lstStyle/>
          <a:p>
            <a:pPr>
              <a:spcAft>
                <a:spcPts val="400"/>
              </a:spcAft>
            </a:pPr>
            <a:r>
              <a:rPr sz="1200" b="0">
                <a:solidFill>
                  <a:srgbClr val="F5F8FC"/>
                </a:solidFill>
                <a:latin typeface="Aptos"/>
              </a:rPr>
              <a:t>Head-to-head</a:t>
            </a:r>
          </a:p>
        </p:txBody>
      </p:sp>
      <p:sp>
        <p:nvSpPr>
          <p:cNvPr id="23" name="Rectangle 22"/>
          <p:cNvSpPr/>
          <p:nvPr/>
        </p:nvSpPr>
        <p:spPr>
          <a:xfrm>
            <a:off x="2331720" y="3803903"/>
            <a:ext cx="2331720" cy="201168"/>
          </a:xfrm>
          <a:prstGeom prst="rect">
            <a:avLst/>
          </a:prstGeom>
          <a:solidFill>
            <a:srgbClr val="1E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331720" y="3803903"/>
            <a:ext cx="777240" cy="201168"/>
          </a:xfrm>
          <a:prstGeom prst="rect">
            <a:avLst/>
          </a:prstGeom>
          <a:solidFill>
            <a:srgbClr val="FA6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54880" y="3785615"/>
            <a:ext cx="594360" cy="228600"/>
          </a:xfrm>
          <a:prstGeom prst="rect">
            <a:avLst/>
          </a:prstGeom>
          <a:noFill/>
        </p:spPr>
        <p:txBody>
          <a:bodyPr wrap="square" lIns="36576" rIns="36576" tIns="36576" bIns="36576" anchor="t">
            <a:spAutoFit/>
          </a:bodyPr>
          <a:lstStyle/>
          <a:p>
            <a:pPr>
              <a:spcAft>
                <a:spcPts val="400"/>
              </a:spcAft>
            </a:pPr>
            <a:r>
              <a:rPr sz="1100" b="1">
                <a:solidFill>
                  <a:srgbClr val="FA6969"/>
                </a:solidFill>
                <a:latin typeface="Aptos"/>
              </a:rPr>
              <a:t>10%</a:t>
            </a:r>
          </a:p>
        </p:txBody>
      </p:sp>
      <p:sp>
        <p:nvSpPr>
          <p:cNvPr id="26" name="TextBox 25"/>
          <p:cNvSpPr txBox="1"/>
          <p:nvPr/>
        </p:nvSpPr>
        <p:spPr>
          <a:xfrm>
            <a:off x="749808" y="4315968"/>
            <a:ext cx="1600200" cy="228600"/>
          </a:xfrm>
          <a:prstGeom prst="rect">
            <a:avLst/>
          </a:prstGeom>
          <a:noFill/>
        </p:spPr>
        <p:txBody>
          <a:bodyPr wrap="square" lIns="36576" rIns="36576" tIns="36576" bIns="36576" anchor="t">
            <a:spAutoFit/>
          </a:bodyPr>
          <a:lstStyle/>
          <a:p>
            <a:pPr>
              <a:spcAft>
                <a:spcPts val="400"/>
              </a:spcAft>
            </a:pPr>
            <a:r>
              <a:rPr sz="1200" b="0">
                <a:solidFill>
                  <a:srgbClr val="F5F8FC"/>
                </a:solidFill>
                <a:latin typeface="Aptos"/>
              </a:rPr>
              <a:t>Playoff history</a:t>
            </a:r>
          </a:p>
        </p:txBody>
      </p:sp>
      <p:sp>
        <p:nvSpPr>
          <p:cNvPr id="27" name="Rectangle 26"/>
          <p:cNvSpPr/>
          <p:nvPr/>
        </p:nvSpPr>
        <p:spPr>
          <a:xfrm>
            <a:off x="2331720" y="4334255"/>
            <a:ext cx="2331720" cy="201168"/>
          </a:xfrm>
          <a:prstGeom prst="rect">
            <a:avLst/>
          </a:prstGeom>
          <a:solidFill>
            <a:srgbClr val="1E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31720" y="4334255"/>
            <a:ext cx="388620" cy="201168"/>
          </a:xfrm>
          <a:prstGeom prst="rect">
            <a:avLst/>
          </a:prstGeom>
          <a:solidFill>
            <a:srgbClr val="AEBE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54880" y="4315968"/>
            <a:ext cx="594360" cy="228600"/>
          </a:xfrm>
          <a:prstGeom prst="rect">
            <a:avLst/>
          </a:prstGeom>
          <a:noFill/>
        </p:spPr>
        <p:txBody>
          <a:bodyPr wrap="square" lIns="36576" rIns="36576" tIns="36576" bIns="36576" anchor="t">
            <a:spAutoFit/>
          </a:bodyPr>
          <a:lstStyle/>
          <a:p>
            <a:pPr>
              <a:spcAft>
                <a:spcPts val="400"/>
              </a:spcAft>
            </a:pPr>
            <a:r>
              <a:rPr sz="1100" b="1">
                <a:solidFill>
                  <a:srgbClr val="AEBECF"/>
                </a:solidFill>
                <a:latin typeface="Aptos"/>
              </a:rPr>
              <a:t>5%</a:t>
            </a:r>
          </a:p>
        </p:txBody>
      </p:sp>
      <p:sp>
        <p:nvSpPr>
          <p:cNvPr id="30" name="Rounded Rectangle 29"/>
          <p:cNvSpPr/>
          <p:nvPr/>
        </p:nvSpPr>
        <p:spPr>
          <a:xfrm>
            <a:off x="5715000" y="1261872"/>
            <a:ext cx="5623560" cy="3337560"/>
          </a:xfrm>
          <a:prstGeom prst="roundRect">
            <a:avLst>
              <a:gd name="adj" fmla="val 12000"/>
            </a:avLst>
          </a:prstGeom>
          <a:solidFill>
            <a:srgbClr val="17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016752" y="1536192"/>
            <a:ext cx="5029200" cy="274320"/>
          </a:xfrm>
          <a:prstGeom prst="rect">
            <a:avLst/>
          </a:prstGeom>
          <a:noFill/>
        </p:spPr>
        <p:txBody>
          <a:bodyPr wrap="square" lIns="36576" rIns="36576" tIns="36576" bIns="36576" anchor="t">
            <a:spAutoFit/>
          </a:bodyPr>
          <a:lstStyle/>
          <a:p>
            <a:pPr>
              <a:spcAft>
                <a:spcPts val="400"/>
              </a:spcAft>
            </a:pPr>
            <a:r>
              <a:rPr sz="1400" b="1">
                <a:solidFill>
                  <a:srgbClr val="FF9141"/>
                </a:solidFill>
                <a:latin typeface="Aptos"/>
              </a:rPr>
              <a:t>HOW THE SCORE WORKS</a:t>
            </a:r>
          </a:p>
        </p:txBody>
      </p:sp>
      <p:sp>
        <p:nvSpPr>
          <p:cNvPr id="32" name="Oval 31"/>
          <p:cNvSpPr/>
          <p:nvPr/>
        </p:nvSpPr>
        <p:spPr>
          <a:xfrm>
            <a:off x="6016752" y="2039112"/>
            <a:ext cx="100584" cy="100584"/>
          </a:xfrm>
          <a:prstGeom prst="ellipse">
            <a:avLst/>
          </a:prstGeom>
          <a:solidFill>
            <a:srgbClr val="46D2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17920" y="1965960"/>
            <a:ext cx="4736592" cy="493775"/>
          </a:xfrm>
          <a:prstGeom prst="rect">
            <a:avLst/>
          </a:prstGeom>
          <a:noFill/>
        </p:spPr>
        <p:txBody>
          <a:bodyPr wrap="square" lIns="36576" rIns="36576" tIns="36576" bIns="36576" anchor="t">
            <a:spAutoFit/>
          </a:bodyPr>
          <a:lstStyle/>
          <a:p>
            <a:pPr>
              <a:spcAft>
                <a:spcPts val="400"/>
              </a:spcAft>
            </a:pPr>
            <a:r>
              <a:rPr sz="1200" b="0">
                <a:solidFill>
                  <a:srgbClr val="F5F8FC"/>
                </a:solidFill>
                <a:latin typeface="Aptos"/>
              </a:rPr>
              <a:t>Normalize each factor to a comparable scale.</a:t>
            </a:r>
          </a:p>
        </p:txBody>
      </p:sp>
      <p:sp>
        <p:nvSpPr>
          <p:cNvPr id="34" name="Oval 33"/>
          <p:cNvSpPr/>
          <p:nvPr/>
        </p:nvSpPr>
        <p:spPr>
          <a:xfrm>
            <a:off x="6016752" y="2569464"/>
            <a:ext cx="100584" cy="100584"/>
          </a:xfrm>
          <a:prstGeom prst="ellipse">
            <a:avLst/>
          </a:prstGeom>
          <a:solidFill>
            <a:srgbClr val="46D2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17920" y="2496312"/>
            <a:ext cx="4736592" cy="493775"/>
          </a:xfrm>
          <a:prstGeom prst="rect">
            <a:avLst/>
          </a:prstGeom>
          <a:noFill/>
        </p:spPr>
        <p:txBody>
          <a:bodyPr wrap="square" lIns="36576" rIns="36576" tIns="36576" bIns="36576" anchor="t">
            <a:spAutoFit/>
          </a:bodyPr>
          <a:lstStyle/>
          <a:p>
            <a:pPr>
              <a:spcAft>
                <a:spcPts val="400"/>
              </a:spcAft>
            </a:pPr>
            <a:r>
              <a:rPr sz="1200" b="0">
                <a:solidFill>
                  <a:srgbClr val="F5F8FC"/>
                </a:solidFill>
                <a:latin typeface="Aptos"/>
              </a:rPr>
              <a:t>Calculate a weighted score for every team.</a:t>
            </a:r>
          </a:p>
        </p:txBody>
      </p:sp>
      <p:sp>
        <p:nvSpPr>
          <p:cNvPr id="36" name="Oval 35"/>
          <p:cNvSpPr/>
          <p:nvPr/>
        </p:nvSpPr>
        <p:spPr>
          <a:xfrm>
            <a:off x="6016752" y="3099815"/>
            <a:ext cx="100584" cy="100584"/>
          </a:xfrm>
          <a:prstGeom prst="ellipse">
            <a:avLst/>
          </a:prstGeom>
          <a:solidFill>
            <a:srgbClr val="46D2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17920" y="3026663"/>
            <a:ext cx="4736592" cy="493775"/>
          </a:xfrm>
          <a:prstGeom prst="rect">
            <a:avLst/>
          </a:prstGeom>
          <a:noFill/>
        </p:spPr>
        <p:txBody>
          <a:bodyPr wrap="square" lIns="36576" rIns="36576" tIns="36576" bIns="36576" anchor="t">
            <a:spAutoFit/>
          </a:bodyPr>
          <a:lstStyle/>
          <a:p>
            <a:pPr>
              <a:spcAft>
                <a:spcPts val="400"/>
              </a:spcAft>
            </a:pPr>
            <a:r>
              <a:rPr sz="1200" b="0">
                <a:solidFill>
                  <a:srgbClr val="F5F8FC"/>
                </a:solidFill>
                <a:latin typeface="Aptos"/>
              </a:rPr>
              <a:t>Rank teams by score; validate weights on past seasons.</a:t>
            </a:r>
          </a:p>
        </p:txBody>
      </p:sp>
      <p:sp>
        <p:nvSpPr>
          <p:cNvPr id="38" name="Oval 37"/>
          <p:cNvSpPr/>
          <p:nvPr/>
        </p:nvSpPr>
        <p:spPr>
          <a:xfrm>
            <a:off x="6016752" y="3630168"/>
            <a:ext cx="100584" cy="100584"/>
          </a:xfrm>
          <a:prstGeom prst="ellipse">
            <a:avLst/>
          </a:prstGeom>
          <a:solidFill>
            <a:srgbClr val="46D2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17920" y="3557015"/>
            <a:ext cx="4736592" cy="493775"/>
          </a:xfrm>
          <a:prstGeom prst="rect">
            <a:avLst/>
          </a:prstGeom>
          <a:noFill/>
        </p:spPr>
        <p:txBody>
          <a:bodyPr wrap="square" lIns="36576" rIns="36576" tIns="36576" bIns="36576" anchor="t">
            <a:spAutoFit/>
          </a:bodyPr>
          <a:lstStyle/>
          <a:p>
            <a:pPr>
              <a:spcAft>
                <a:spcPts val="400"/>
              </a:spcAft>
            </a:pPr>
            <a:r>
              <a:rPr sz="1200" b="0">
                <a:solidFill>
                  <a:srgbClr val="F5F8FC"/>
                </a:solidFill>
                <a:latin typeface="Aptos"/>
              </a:rPr>
              <a:t>Update for confirmed squad and availability news.</a:t>
            </a:r>
          </a:p>
        </p:txBody>
      </p:sp>
      <p:sp>
        <p:nvSpPr>
          <p:cNvPr id="40" name="Rounded Rectangle 39"/>
          <p:cNvSpPr/>
          <p:nvPr/>
        </p:nvSpPr>
        <p:spPr>
          <a:xfrm>
            <a:off x="5715000" y="4828032"/>
            <a:ext cx="5623560" cy="868680"/>
          </a:xfrm>
          <a:prstGeom prst="roundRect">
            <a:avLst>
              <a:gd name="adj" fmla="val 12000"/>
            </a:avLst>
          </a:prstGeom>
          <a:solidFill>
            <a:srgbClr val="1E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989320" y="4965192"/>
            <a:ext cx="5029200" cy="548640"/>
          </a:xfrm>
          <a:prstGeom prst="rect">
            <a:avLst/>
          </a:prstGeom>
          <a:noFill/>
        </p:spPr>
        <p:txBody>
          <a:bodyPr wrap="square" lIns="36576" rIns="36576" tIns="36576" bIns="36576" anchor="t">
            <a:spAutoFit/>
          </a:bodyPr>
          <a:lstStyle/>
          <a:p>
            <a:pPr>
              <a:spcAft>
                <a:spcPts val="400"/>
              </a:spcAft>
            </a:pPr>
            <a:r>
              <a:rPr sz="1200" b="1">
                <a:solidFill>
                  <a:srgbClr val="FFD055"/>
                </a:solidFill>
                <a:latin typeface="Aptos"/>
              </a:rPr>
              <a:t>A score is not a probability. Probabilities require a calibrated, tested model.</a:t>
            </a:r>
          </a:p>
        </p:txBody>
      </p:sp>
      <p:sp>
        <p:nvSpPr>
          <p:cNvPr id="42" name="TextBox 41"/>
          <p:cNvSpPr txBox="1"/>
          <p:nvPr/>
        </p:nvSpPr>
        <p:spPr>
          <a:xfrm>
            <a:off x="749808" y="5440680"/>
            <a:ext cx="4754880" cy="384048"/>
          </a:xfrm>
          <a:prstGeom prst="rect">
            <a:avLst/>
          </a:prstGeom>
          <a:noFill/>
        </p:spPr>
        <p:txBody>
          <a:bodyPr wrap="square" lIns="36576" rIns="36576" tIns="36576" bIns="36576" anchor="t">
            <a:spAutoFit/>
          </a:bodyPr>
          <a:lstStyle/>
          <a:p>
            <a:pPr>
              <a:spcAft>
                <a:spcPts val="400"/>
              </a:spcAft>
            </a:pPr>
            <a:r>
              <a:rPr sz="1100" b="0">
                <a:solidFill>
                  <a:srgbClr val="AEBECF"/>
                </a:solidFill>
                <a:latin typeface="Aptos"/>
              </a:rPr>
              <a:t>Avoid data leakage: use only information available before the prediction date.</a:t>
            </a:r>
          </a:p>
        </p:txBody>
      </p:sp>
      <p:sp>
        <p:nvSpPr>
          <p:cNvPr id="43" name="TextBox 42"/>
          <p:cNvSpPr txBox="1"/>
          <p:nvPr/>
        </p:nvSpPr>
        <p:spPr>
          <a:xfrm>
            <a:off x="621792" y="6519672"/>
            <a:ext cx="8778240" cy="164592"/>
          </a:xfrm>
          <a:prstGeom prst="rect">
            <a:avLst/>
          </a:prstGeom>
          <a:noFill/>
        </p:spPr>
        <p:txBody>
          <a:bodyPr wrap="square" lIns="36576" rIns="36576" tIns="36576" bIns="36576" anchor="t">
            <a:spAutoFit/>
          </a:bodyPr>
          <a:lstStyle/>
          <a:p>
            <a:pPr>
              <a:spcAft>
                <a:spcPts val="400"/>
              </a:spcAft>
            </a:pPr>
            <a:r>
              <a:rPr sz="800" b="0">
                <a:solidFill>
                  <a:srgbClr val="AEBECF"/>
                </a:solidFill>
                <a:latin typeface="Aptos"/>
              </a:rPr>
              <a:t>IPL 2027 WINNER PREDICTION  •  SPORTS ANALYTICS PROJECT</a:t>
            </a:r>
          </a:p>
        </p:txBody>
      </p:sp>
      <p:sp>
        <p:nvSpPr>
          <p:cNvPr id="44" name="TextBox 43"/>
          <p:cNvSpPr txBox="1"/>
          <p:nvPr/>
        </p:nvSpPr>
        <p:spPr>
          <a:xfrm>
            <a:off x="10972800" y="6492240"/>
            <a:ext cx="548640" cy="201168"/>
          </a:xfrm>
          <a:prstGeom prst="rect">
            <a:avLst/>
          </a:prstGeom>
          <a:noFill/>
        </p:spPr>
        <p:txBody>
          <a:bodyPr wrap="square" lIns="36576" rIns="36576" tIns="36576" bIns="36576" anchor="t">
            <a:spAutoFit/>
          </a:bodyPr>
          <a:lstStyle/>
          <a:p>
            <a:pPr algn="r">
              <a:spcAft>
                <a:spcPts val="400"/>
              </a:spcAft>
            </a:pPr>
            <a:r>
              <a:rPr sz="900" b="0">
                <a:solidFill>
                  <a:srgbClr val="AEBECF"/>
                </a:solidFill>
                <a:latin typeface="Aptos"/>
              </a:rPr>
              <a:t>08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C1424"/>
        </a:solidFill>
        <a:effectLst/>
      </p:bgPr>
    </p:bg>
    <p:spTree>
      <p:nvGrpSpPr>
        <p:cNvPr id="1" name=""/>
        <p:cNvGrpSpPr/>
        <p:nvPr/>
      </p:nvGrpSpPr>
      <p:grpSpPr/>
      <p:sp>
        <p:nvSpPr>
          <p:cNvPr id="2" name="TextBox 1"/>
          <p:cNvSpPr txBox="1"/>
          <p:nvPr/>
        </p:nvSpPr>
        <p:spPr>
          <a:xfrm>
            <a:off x="594360" y="256032"/>
            <a:ext cx="10881360" cy="475488"/>
          </a:xfrm>
          <a:prstGeom prst="rect">
            <a:avLst/>
          </a:prstGeom>
          <a:noFill/>
        </p:spPr>
        <p:txBody>
          <a:bodyPr wrap="square" lIns="36576" rIns="36576" tIns="36576" bIns="36576" anchor="t">
            <a:spAutoFit/>
          </a:bodyPr>
          <a:lstStyle/>
          <a:p>
            <a:pPr>
              <a:spcAft>
                <a:spcPts val="400"/>
              </a:spcAft>
            </a:pPr>
            <a:r>
              <a:rPr sz="2700" b="1">
                <a:solidFill>
                  <a:srgbClr val="F5F8FC"/>
                </a:solidFill>
                <a:latin typeface="Aptos"/>
              </a:rPr>
              <a:t>Expected Results &amp; Insights</a:t>
            </a:r>
          </a:p>
        </p:txBody>
      </p:sp>
      <p:sp>
        <p:nvSpPr>
          <p:cNvPr id="3" name="Rectangle 2"/>
          <p:cNvSpPr/>
          <p:nvPr/>
        </p:nvSpPr>
        <p:spPr>
          <a:xfrm>
            <a:off x="603504" y="832104"/>
            <a:ext cx="713232" cy="50292"/>
          </a:xfrm>
          <a:prstGeom prst="rect">
            <a:avLst/>
          </a:prstGeom>
          <a:solidFill>
            <a:srgbClr val="46D2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509760" y="310896"/>
            <a:ext cx="2057400" cy="274320"/>
          </a:xfrm>
          <a:prstGeom prst="rect">
            <a:avLst/>
          </a:prstGeom>
          <a:noFill/>
        </p:spPr>
        <p:txBody>
          <a:bodyPr wrap="square" lIns="36576" rIns="36576" tIns="36576" bIns="36576" anchor="t">
            <a:spAutoFit/>
          </a:bodyPr>
          <a:lstStyle/>
          <a:p>
            <a:pPr algn="r">
              <a:spcAft>
                <a:spcPts val="400"/>
              </a:spcAft>
            </a:pPr>
            <a:r>
              <a:rPr sz="900" b="1">
                <a:solidFill>
                  <a:srgbClr val="46D287"/>
                </a:solidFill>
                <a:latin typeface="Aptos"/>
              </a:rPr>
              <a:t>08 • INTERPRETATION</a:t>
            </a:r>
          </a:p>
        </p:txBody>
      </p:sp>
      <p:sp>
        <p:nvSpPr>
          <p:cNvPr id="5" name="Rounded Rectangle 4"/>
          <p:cNvSpPr/>
          <p:nvPr/>
        </p:nvSpPr>
        <p:spPr>
          <a:xfrm>
            <a:off x="685800" y="1261872"/>
            <a:ext cx="5212080" cy="4434840"/>
          </a:xfrm>
          <a:prstGeom prst="roundRect">
            <a:avLst>
              <a:gd name="adj" fmla="val 12000"/>
            </a:avLst>
          </a:prstGeom>
          <a:solidFill>
            <a:srgbClr val="17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536192"/>
            <a:ext cx="4663440" cy="320040"/>
          </a:xfrm>
          <a:prstGeom prst="rect">
            <a:avLst/>
          </a:prstGeom>
          <a:noFill/>
        </p:spPr>
        <p:txBody>
          <a:bodyPr wrap="square" lIns="36576" rIns="36576" tIns="36576" bIns="36576" anchor="t">
            <a:spAutoFit/>
          </a:bodyPr>
          <a:lstStyle/>
          <a:p>
            <a:pPr>
              <a:spcAft>
                <a:spcPts val="400"/>
              </a:spcAft>
            </a:pPr>
            <a:r>
              <a:rPr sz="1500" b="1">
                <a:solidFill>
                  <a:srgbClr val="46D287"/>
                </a:solidFill>
                <a:latin typeface="Aptos"/>
              </a:rPr>
              <a:t>WHAT THE ANALYSIS SHOULD REVEAL</a:t>
            </a:r>
          </a:p>
        </p:txBody>
      </p:sp>
      <p:sp>
        <p:nvSpPr>
          <p:cNvPr id="7" name="Oval 6"/>
          <p:cNvSpPr/>
          <p:nvPr/>
        </p:nvSpPr>
        <p:spPr>
          <a:xfrm>
            <a:off x="960120" y="2103120"/>
            <a:ext cx="100584" cy="100584"/>
          </a:xfrm>
          <a:prstGeom prst="ellipse">
            <a:avLst/>
          </a:prstGeom>
          <a:solidFill>
            <a:srgbClr val="FF9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61288" y="2029968"/>
            <a:ext cx="4370832" cy="576072"/>
          </a:xfrm>
          <a:prstGeom prst="rect">
            <a:avLst/>
          </a:prstGeom>
          <a:noFill/>
        </p:spPr>
        <p:txBody>
          <a:bodyPr wrap="square" lIns="36576" rIns="36576" tIns="36576" bIns="36576" anchor="t">
            <a:spAutoFit/>
          </a:bodyPr>
          <a:lstStyle/>
          <a:p>
            <a:pPr>
              <a:spcAft>
                <a:spcPts val="400"/>
              </a:spcAft>
            </a:pPr>
            <a:r>
              <a:rPr sz="1300" b="0">
                <a:solidFill>
                  <a:srgbClr val="F5F8FC"/>
                </a:solidFill>
                <a:latin typeface="Aptos"/>
              </a:rPr>
              <a:t>Which teams sustain strong win rates over time?</a:t>
            </a:r>
          </a:p>
        </p:txBody>
      </p:sp>
      <p:sp>
        <p:nvSpPr>
          <p:cNvPr id="9" name="Oval 8"/>
          <p:cNvSpPr/>
          <p:nvPr/>
        </p:nvSpPr>
        <p:spPr>
          <a:xfrm>
            <a:off x="960120" y="2715768"/>
            <a:ext cx="100584" cy="100584"/>
          </a:xfrm>
          <a:prstGeom prst="ellipse">
            <a:avLst/>
          </a:prstGeom>
          <a:solidFill>
            <a:srgbClr val="FF9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61288" y="2642616"/>
            <a:ext cx="4370832" cy="576072"/>
          </a:xfrm>
          <a:prstGeom prst="rect">
            <a:avLst/>
          </a:prstGeom>
          <a:noFill/>
        </p:spPr>
        <p:txBody>
          <a:bodyPr wrap="square" lIns="36576" rIns="36576" tIns="36576" bIns="36576" anchor="t">
            <a:spAutoFit/>
          </a:bodyPr>
          <a:lstStyle/>
          <a:p>
            <a:pPr>
              <a:spcAft>
                <a:spcPts val="400"/>
              </a:spcAft>
            </a:pPr>
            <a:r>
              <a:rPr sz="1300" b="0">
                <a:solidFill>
                  <a:srgbClr val="F5F8FC"/>
                </a:solidFill>
                <a:latin typeface="Aptos"/>
              </a:rPr>
              <a:t>Do batting or bowling indicators separate top teams?</a:t>
            </a:r>
          </a:p>
        </p:txBody>
      </p:sp>
      <p:sp>
        <p:nvSpPr>
          <p:cNvPr id="11" name="Oval 10"/>
          <p:cNvSpPr/>
          <p:nvPr/>
        </p:nvSpPr>
        <p:spPr>
          <a:xfrm>
            <a:off x="960120" y="3328416"/>
            <a:ext cx="100584" cy="100584"/>
          </a:xfrm>
          <a:prstGeom prst="ellipse">
            <a:avLst/>
          </a:prstGeom>
          <a:solidFill>
            <a:srgbClr val="FF9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61288" y="3255264"/>
            <a:ext cx="4370832" cy="576072"/>
          </a:xfrm>
          <a:prstGeom prst="rect">
            <a:avLst/>
          </a:prstGeom>
          <a:noFill/>
        </p:spPr>
        <p:txBody>
          <a:bodyPr wrap="square" lIns="36576" rIns="36576" tIns="36576" bIns="36576" anchor="t">
            <a:spAutoFit/>
          </a:bodyPr>
          <a:lstStyle/>
          <a:p>
            <a:pPr>
              <a:spcAft>
                <a:spcPts val="400"/>
              </a:spcAft>
            </a:pPr>
            <a:r>
              <a:rPr sz="1300" b="0">
                <a:solidFill>
                  <a:srgbClr val="F5F8FC"/>
                </a:solidFill>
                <a:latin typeface="Aptos"/>
              </a:rPr>
              <a:t>How much do venue and toss patterns matter?</a:t>
            </a:r>
          </a:p>
        </p:txBody>
      </p:sp>
      <p:sp>
        <p:nvSpPr>
          <p:cNvPr id="13" name="Oval 12"/>
          <p:cNvSpPr/>
          <p:nvPr/>
        </p:nvSpPr>
        <p:spPr>
          <a:xfrm>
            <a:off x="960120" y="3941064"/>
            <a:ext cx="100584" cy="100584"/>
          </a:xfrm>
          <a:prstGeom prst="ellipse">
            <a:avLst/>
          </a:prstGeom>
          <a:solidFill>
            <a:srgbClr val="FF9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61288" y="3867912"/>
            <a:ext cx="4370832" cy="576072"/>
          </a:xfrm>
          <a:prstGeom prst="rect">
            <a:avLst/>
          </a:prstGeom>
          <a:noFill/>
        </p:spPr>
        <p:txBody>
          <a:bodyPr wrap="square" lIns="36576" rIns="36576" tIns="36576" bIns="36576" anchor="t">
            <a:spAutoFit/>
          </a:bodyPr>
          <a:lstStyle/>
          <a:p>
            <a:pPr>
              <a:spcAft>
                <a:spcPts val="400"/>
              </a:spcAft>
            </a:pPr>
            <a:r>
              <a:rPr sz="1300" b="0">
                <a:solidFill>
                  <a:srgbClr val="F5F8FC"/>
                </a:solidFill>
                <a:latin typeface="Aptos"/>
              </a:rPr>
              <a:t>Which teams reach playoffs most consistently?</a:t>
            </a:r>
          </a:p>
        </p:txBody>
      </p:sp>
      <p:sp>
        <p:nvSpPr>
          <p:cNvPr id="15" name="Oval 14"/>
          <p:cNvSpPr/>
          <p:nvPr/>
        </p:nvSpPr>
        <p:spPr>
          <a:xfrm>
            <a:off x="960120" y="4553712"/>
            <a:ext cx="100584" cy="100584"/>
          </a:xfrm>
          <a:prstGeom prst="ellipse">
            <a:avLst/>
          </a:prstGeom>
          <a:solidFill>
            <a:srgbClr val="FF9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61288" y="4480560"/>
            <a:ext cx="4370832" cy="576072"/>
          </a:xfrm>
          <a:prstGeom prst="rect">
            <a:avLst/>
          </a:prstGeom>
          <a:noFill/>
        </p:spPr>
        <p:txBody>
          <a:bodyPr wrap="square" lIns="36576" rIns="36576" tIns="36576" bIns="36576" anchor="t">
            <a:spAutoFit/>
          </a:bodyPr>
          <a:lstStyle/>
          <a:p>
            <a:pPr>
              <a:spcAft>
                <a:spcPts val="400"/>
              </a:spcAft>
            </a:pPr>
            <a:r>
              <a:rPr sz="1300" b="0">
                <a:solidFill>
                  <a:srgbClr val="F5F8FC"/>
                </a:solidFill>
                <a:latin typeface="Aptos"/>
              </a:rPr>
              <a:t>How sensitive are rankings to the chosen weights?</a:t>
            </a:r>
          </a:p>
        </p:txBody>
      </p:sp>
      <p:sp>
        <p:nvSpPr>
          <p:cNvPr id="17" name="Rounded Rectangle 16"/>
          <p:cNvSpPr/>
          <p:nvPr/>
        </p:nvSpPr>
        <p:spPr>
          <a:xfrm>
            <a:off x="6172200" y="1261872"/>
            <a:ext cx="5212080" cy="4434840"/>
          </a:xfrm>
          <a:prstGeom prst="roundRect">
            <a:avLst>
              <a:gd name="adj" fmla="val 12000"/>
            </a:avLst>
          </a:prstGeom>
          <a:solidFill>
            <a:srgbClr val="17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73952" y="2148840"/>
            <a:ext cx="914400" cy="201168"/>
          </a:xfrm>
          <a:prstGeom prst="rect">
            <a:avLst/>
          </a:prstGeom>
          <a:noFill/>
        </p:spPr>
        <p:txBody>
          <a:bodyPr wrap="square" lIns="36576" rIns="36576" tIns="36576" bIns="36576" anchor="t">
            <a:spAutoFit/>
          </a:bodyPr>
          <a:lstStyle/>
          <a:p>
            <a:pPr>
              <a:spcAft>
                <a:spcPts val="400"/>
              </a:spcAft>
            </a:pPr>
            <a:r>
              <a:rPr sz="1100" b="0">
                <a:solidFill>
                  <a:srgbClr val="AEBECF"/>
                </a:solidFill>
                <a:latin typeface="Aptos"/>
              </a:rPr>
              <a:t>Team A</a:t>
            </a:r>
          </a:p>
        </p:txBody>
      </p:sp>
      <p:sp>
        <p:nvSpPr>
          <p:cNvPr id="20" name="Rectangle 19"/>
          <p:cNvSpPr/>
          <p:nvPr/>
        </p:nvSpPr>
        <p:spPr>
          <a:xfrm>
            <a:off x="7452360" y="2167128"/>
            <a:ext cx="3063240" cy="201168"/>
          </a:xfrm>
          <a:prstGeom prst="rect">
            <a:avLst/>
          </a:prstGeom>
          <a:solidFill>
            <a:srgbClr val="1E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52360" y="2167128"/>
            <a:ext cx="2511856" cy="201168"/>
          </a:xfrm>
          <a:prstGeom prst="rect">
            <a:avLst/>
          </a:prstGeom>
          <a:solidFill>
            <a:srgbClr val="46D2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73952" y="2770632"/>
            <a:ext cx="914400" cy="201168"/>
          </a:xfrm>
          <a:prstGeom prst="rect">
            <a:avLst/>
          </a:prstGeom>
          <a:noFill/>
        </p:spPr>
        <p:txBody>
          <a:bodyPr wrap="square" lIns="36576" rIns="36576" tIns="36576" bIns="36576" anchor="t">
            <a:spAutoFit/>
          </a:bodyPr>
          <a:lstStyle/>
          <a:p>
            <a:pPr>
              <a:spcAft>
                <a:spcPts val="400"/>
              </a:spcAft>
            </a:pPr>
            <a:r>
              <a:rPr sz="1100" b="0">
                <a:solidFill>
                  <a:srgbClr val="AEBECF"/>
                </a:solidFill>
                <a:latin typeface="Aptos"/>
              </a:rPr>
              <a:t>Team B</a:t>
            </a:r>
          </a:p>
        </p:txBody>
      </p:sp>
      <p:sp>
        <p:nvSpPr>
          <p:cNvPr id="23" name="Rectangle 22"/>
          <p:cNvSpPr/>
          <p:nvPr/>
        </p:nvSpPr>
        <p:spPr>
          <a:xfrm>
            <a:off x="7452360" y="2788920"/>
            <a:ext cx="3063240" cy="201168"/>
          </a:xfrm>
          <a:prstGeom prst="rect">
            <a:avLst/>
          </a:prstGeom>
          <a:solidFill>
            <a:srgbClr val="1E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452360" y="2788920"/>
            <a:ext cx="2205532" cy="201168"/>
          </a:xfrm>
          <a:prstGeom prst="rect">
            <a:avLst/>
          </a:prstGeom>
          <a:solidFill>
            <a:srgbClr val="FF9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73952" y="3392424"/>
            <a:ext cx="914400" cy="201168"/>
          </a:xfrm>
          <a:prstGeom prst="rect">
            <a:avLst/>
          </a:prstGeom>
          <a:noFill/>
        </p:spPr>
        <p:txBody>
          <a:bodyPr wrap="square" lIns="36576" rIns="36576" tIns="36576" bIns="36576" anchor="t">
            <a:spAutoFit/>
          </a:bodyPr>
          <a:lstStyle/>
          <a:p>
            <a:pPr>
              <a:spcAft>
                <a:spcPts val="400"/>
              </a:spcAft>
            </a:pPr>
            <a:r>
              <a:rPr sz="1100" b="0">
                <a:solidFill>
                  <a:srgbClr val="AEBECF"/>
                </a:solidFill>
                <a:latin typeface="Aptos"/>
              </a:rPr>
              <a:t>Team C</a:t>
            </a:r>
          </a:p>
        </p:txBody>
      </p:sp>
      <p:sp>
        <p:nvSpPr>
          <p:cNvPr id="26" name="Rectangle 25"/>
          <p:cNvSpPr/>
          <p:nvPr/>
        </p:nvSpPr>
        <p:spPr>
          <a:xfrm>
            <a:off x="7452360" y="3410712"/>
            <a:ext cx="3063240" cy="201168"/>
          </a:xfrm>
          <a:prstGeom prst="rect">
            <a:avLst/>
          </a:prstGeom>
          <a:solidFill>
            <a:srgbClr val="1E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452360" y="3410712"/>
            <a:ext cx="1960473" cy="201168"/>
          </a:xfrm>
          <a:prstGeom prst="rect">
            <a:avLst/>
          </a:prstGeom>
          <a:solidFill>
            <a:srgbClr val="4A9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73952" y="4014216"/>
            <a:ext cx="914400" cy="201168"/>
          </a:xfrm>
          <a:prstGeom prst="rect">
            <a:avLst/>
          </a:prstGeom>
          <a:noFill/>
        </p:spPr>
        <p:txBody>
          <a:bodyPr wrap="square" lIns="36576" rIns="36576" tIns="36576" bIns="36576" anchor="t">
            <a:spAutoFit/>
          </a:bodyPr>
          <a:lstStyle/>
          <a:p>
            <a:pPr>
              <a:spcAft>
                <a:spcPts val="400"/>
              </a:spcAft>
            </a:pPr>
            <a:r>
              <a:rPr sz="1100" b="0">
                <a:solidFill>
                  <a:srgbClr val="AEBECF"/>
                </a:solidFill>
                <a:latin typeface="Aptos"/>
              </a:rPr>
              <a:t>Team D</a:t>
            </a:r>
          </a:p>
        </p:txBody>
      </p:sp>
      <p:sp>
        <p:nvSpPr>
          <p:cNvPr id="29" name="Rectangle 28"/>
          <p:cNvSpPr/>
          <p:nvPr/>
        </p:nvSpPr>
        <p:spPr>
          <a:xfrm>
            <a:off x="7452360" y="4032504"/>
            <a:ext cx="3063240" cy="201168"/>
          </a:xfrm>
          <a:prstGeom prst="rect">
            <a:avLst/>
          </a:prstGeom>
          <a:solidFill>
            <a:srgbClr val="1E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452360" y="4032504"/>
            <a:ext cx="1684782" cy="201168"/>
          </a:xfrm>
          <a:prstGeom prst="rect">
            <a:avLst/>
          </a:prstGeom>
          <a:solidFill>
            <a:srgbClr val="FFD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 y="5870448"/>
            <a:ext cx="10789920" cy="274320"/>
          </a:xfrm>
          <a:prstGeom prst="rect">
            <a:avLst/>
          </a:prstGeom>
          <a:noFill/>
        </p:spPr>
        <p:txBody>
          <a:bodyPr wrap="square" lIns="36576" rIns="36576" tIns="36576" bIns="36576" anchor="t">
            <a:spAutoFit/>
          </a:bodyPr>
          <a:lstStyle/>
          <a:p>
            <a:pPr>
              <a:spcAft>
                <a:spcPts val="400"/>
              </a:spcAft>
            </a:pPr>
            <a:r>
              <a:rPr sz="1100" b="1">
                <a:solidFill>
                  <a:srgbClr val="AEBECF"/>
                </a:solidFill>
                <a:latin typeface="Aptos"/>
              </a:rPr>
              <a:t>Final contenders should be named only after the dataset is refreshed and the model is evaluated.</a:t>
            </a:r>
          </a:p>
        </p:txBody>
      </p:sp>
      <p:sp>
        <p:nvSpPr>
          <p:cNvPr id="33" name="TextBox 32"/>
          <p:cNvSpPr txBox="1"/>
          <p:nvPr/>
        </p:nvSpPr>
        <p:spPr>
          <a:xfrm>
            <a:off x="621792" y="6519672"/>
            <a:ext cx="8778240" cy="164592"/>
          </a:xfrm>
          <a:prstGeom prst="rect">
            <a:avLst/>
          </a:prstGeom>
          <a:noFill/>
        </p:spPr>
        <p:txBody>
          <a:bodyPr wrap="square" lIns="36576" rIns="36576" tIns="36576" bIns="36576" anchor="t">
            <a:spAutoFit/>
          </a:bodyPr>
          <a:lstStyle/>
          <a:p>
            <a:pPr>
              <a:spcAft>
                <a:spcPts val="400"/>
              </a:spcAft>
            </a:pPr>
            <a:r>
              <a:rPr sz="800" b="0">
                <a:solidFill>
                  <a:srgbClr val="AEBECF"/>
                </a:solidFill>
                <a:latin typeface="Aptos"/>
              </a:rPr>
              <a:t>IPL 2027 WINNER PREDICTION  •  SPORTS ANALYTICS PROJECT</a:t>
            </a:r>
          </a:p>
        </p:txBody>
      </p:sp>
      <p:sp>
        <p:nvSpPr>
          <p:cNvPr id="34" name="TextBox 33"/>
          <p:cNvSpPr txBox="1"/>
          <p:nvPr/>
        </p:nvSpPr>
        <p:spPr>
          <a:xfrm>
            <a:off x="10972800" y="6492240"/>
            <a:ext cx="548640" cy="201168"/>
          </a:xfrm>
          <a:prstGeom prst="rect">
            <a:avLst/>
          </a:prstGeom>
          <a:noFill/>
        </p:spPr>
        <p:txBody>
          <a:bodyPr wrap="square" lIns="36576" rIns="36576" tIns="36576" bIns="36576" anchor="t">
            <a:spAutoFit/>
          </a:bodyPr>
          <a:lstStyle/>
          <a:p>
            <a:pPr algn="r">
              <a:spcAft>
                <a:spcPts val="400"/>
              </a:spcAft>
            </a:pPr>
            <a:r>
              <a:rPr sz="900" b="0">
                <a:solidFill>
                  <a:srgbClr val="AEBECF"/>
                </a:solidFill>
                <a:latin typeface="Aptos"/>
              </a:rPr>
              <a:t>09 / 10</a:t>
            </a:r>
          </a:p>
        </p:txBody>
      </p:sp>
      <p:sp>
        <p:nvSpPr>
          <p:cNvPr id="35" name="Rounded Rectangle 34"/>
          <p:cNvSpPr/>
          <p:nvPr/>
        </p:nvSpPr>
        <p:spPr>
          <a:xfrm>
            <a:off x="6172200" y="1261872"/>
            <a:ext cx="5212080" cy="4434840"/>
          </a:xfrm>
          <a:prstGeom prst="roundRect">
            <a:avLst>
              <a:gd name="adj" fmla="val 12000"/>
            </a:avLst>
          </a:prstGeom>
          <a:solidFill>
            <a:srgbClr val="172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46520" y="1536192"/>
            <a:ext cx="4617720" cy="320040"/>
          </a:xfrm>
          <a:prstGeom prst="rect">
            <a:avLst/>
          </a:prstGeom>
          <a:noFill/>
        </p:spPr>
        <p:txBody>
          <a:bodyPr wrap="square" lIns="36576" rIns="36576" tIns="27432" bIns="27432">
            <a:spAutoFit/>
          </a:bodyPr>
          <a:lstStyle/>
          <a:p>
            <a:r>
              <a:rPr sz="1300" b="1">
                <a:solidFill>
                  <a:srgbClr val="46D287"/>
                </a:solidFill>
                <a:latin typeface="Aptos"/>
              </a:rPr>
              <a:t>HISTORICAL TITLE LEADERS • 2008–2026</a:t>
            </a:r>
          </a:p>
        </p:txBody>
      </p:sp>
      <p:sp>
        <p:nvSpPr>
          <p:cNvPr id="37" name="TextBox 36"/>
          <p:cNvSpPr txBox="1"/>
          <p:nvPr/>
        </p:nvSpPr>
        <p:spPr>
          <a:xfrm>
            <a:off x="6473952" y="2103120"/>
            <a:ext cx="1828800" cy="274320"/>
          </a:xfrm>
          <a:prstGeom prst="rect">
            <a:avLst/>
          </a:prstGeom>
          <a:noFill/>
        </p:spPr>
        <p:txBody>
          <a:bodyPr wrap="square" lIns="36576" rIns="36576" tIns="27432" bIns="27432">
            <a:spAutoFit/>
          </a:bodyPr>
          <a:lstStyle/>
          <a:p>
            <a:r>
              <a:rPr sz="950" b="1">
                <a:solidFill>
                  <a:srgbClr val="F5F8FC"/>
                </a:solidFill>
                <a:latin typeface="Aptos"/>
              </a:rPr>
              <a:t>Chennai Super Kings</a:t>
            </a:r>
          </a:p>
        </p:txBody>
      </p:sp>
      <p:sp>
        <p:nvSpPr>
          <p:cNvPr id="38" name="Rectangle 37"/>
          <p:cNvSpPr/>
          <p:nvPr/>
        </p:nvSpPr>
        <p:spPr>
          <a:xfrm>
            <a:off x="8339327" y="2125979"/>
            <a:ext cx="1920240" cy="201168"/>
          </a:xfrm>
          <a:prstGeom prst="rect">
            <a:avLst/>
          </a:prstGeom>
          <a:solidFill>
            <a:srgbClr val="1E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339327" y="2125979"/>
            <a:ext cx="1920240" cy="201168"/>
          </a:xfrm>
          <a:prstGeom prst="rect">
            <a:avLst/>
          </a:prstGeom>
          <a:solidFill>
            <a:srgbClr val="46D2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78440" y="2103120"/>
            <a:ext cx="411480" cy="228600"/>
          </a:xfrm>
          <a:prstGeom prst="rect">
            <a:avLst/>
          </a:prstGeom>
          <a:noFill/>
        </p:spPr>
        <p:txBody>
          <a:bodyPr wrap="square" lIns="36576" rIns="36576" tIns="27432" bIns="27432">
            <a:spAutoFit/>
          </a:bodyPr>
          <a:lstStyle/>
          <a:p>
            <a:r>
              <a:rPr sz="1000" b="1">
                <a:solidFill>
                  <a:srgbClr val="46D287"/>
                </a:solidFill>
                <a:latin typeface="Aptos"/>
              </a:rPr>
              <a:t>5</a:t>
            </a:r>
          </a:p>
        </p:txBody>
      </p:sp>
      <p:sp>
        <p:nvSpPr>
          <p:cNvPr id="41" name="TextBox 40"/>
          <p:cNvSpPr txBox="1"/>
          <p:nvPr/>
        </p:nvSpPr>
        <p:spPr>
          <a:xfrm>
            <a:off x="6473952" y="2642615"/>
            <a:ext cx="1828800" cy="274320"/>
          </a:xfrm>
          <a:prstGeom prst="rect">
            <a:avLst/>
          </a:prstGeom>
          <a:noFill/>
        </p:spPr>
        <p:txBody>
          <a:bodyPr wrap="square" lIns="36576" rIns="36576" tIns="27432" bIns="27432">
            <a:spAutoFit/>
          </a:bodyPr>
          <a:lstStyle/>
          <a:p>
            <a:r>
              <a:rPr sz="950" b="1">
                <a:solidFill>
                  <a:srgbClr val="F5F8FC"/>
                </a:solidFill>
                <a:latin typeface="Aptos"/>
              </a:rPr>
              <a:t>Mumbai Indians</a:t>
            </a:r>
          </a:p>
        </p:txBody>
      </p:sp>
      <p:sp>
        <p:nvSpPr>
          <p:cNvPr id="42" name="Rectangle 41"/>
          <p:cNvSpPr/>
          <p:nvPr/>
        </p:nvSpPr>
        <p:spPr>
          <a:xfrm>
            <a:off x="8339327" y="2665475"/>
            <a:ext cx="1920240" cy="201168"/>
          </a:xfrm>
          <a:prstGeom prst="rect">
            <a:avLst/>
          </a:prstGeom>
          <a:solidFill>
            <a:srgbClr val="1E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339327" y="2665475"/>
            <a:ext cx="1920240" cy="201168"/>
          </a:xfrm>
          <a:prstGeom prst="rect">
            <a:avLst/>
          </a:prstGeom>
          <a:solidFill>
            <a:srgbClr val="FF9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378440" y="2642615"/>
            <a:ext cx="411480" cy="228600"/>
          </a:xfrm>
          <a:prstGeom prst="rect">
            <a:avLst/>
          </a:prstGeom>
          <a:noFill/>
        </p:spPr>
        <p:txBody>
          <a:bodyPr wrap="square" lIns="36576" rIns="36576" tIns="27432" bIns="27432">
            <a:spAutoFit/>
          </a:bodyPr>
          <a:lstStyle/>
          <a:p>
            <a:r>
              <a:rPr sz="1000" b="1">
                <a:solidFill>
                  <a:srgbClr val="FF9141"/>
                </a:solidFill>
                <a:latin typeface="Aptos"/>
              </a:rPr>
              <a:t>5</a:t>
            </a:r>
          </a:p>
        </p:txBody>
      </p:sp>
      <p:sp>
        <p:nvSpPr>
          <p:cNvPr id="45" name="TextBox 44"/>
          <p:cNvSpPr txBox="1"/>
          <p:nvPr/>
        </p:nvSpPr>
        <p:spPr>
          <a:xfrm>
            <a:off x="6473952" y="3182111"/>
            <a:ext cx="1828800" cy="274320"/>
          </a:xfrm>
          <a:prstGeom prst="rect">
            <a:avLst/>
          </a:prstGeom>
          <a:noFill/>
        </p:spPr>
        <p:txBody>
          <a:bodyPr wrap="square" lIns="36576" rIns="36576" tIns="27432" bIns="27432">
            <a:spAutoFit/>
          </a:bodyPr>
          <a:lstStyle/>
          <a:p>
            <a:r>
              <a:rPr sz="950" b="1">
                <a:solidFill>
                  <a:srgbClr val="F5F8FC"/>
                </a:solidFill>
                <a:latin typeface="Aptos"/>
              </a:rPr>
              <a:t>Kolkata Knight Riders</a:t>
            </a:r>
          </a:p>
        </p:txBody>
      </p:sp>
      <p:sp>
        <p:nvSpPr>
          <p:cNvPr id="46" name="Rectangle 45"/>
          <p:cNvSpPr/>
          <p:nvPr/>
        </p:nvSpPr>
        <p:spPr>
          <a:xfrm>
            <a:off x="8339327" y="3204971"/>
            <a:ext cx="1920240" cy="201168"/>
          </a:xfrm>
          <a:prstGeom prst="rect">
            <a:avLst/>
          </a:prstGeom>
          <a:solidFill>
            <a:srgbClr val="1E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339327" y="3204971"/>
            <a:ext cx="1152144" cy="201168"/>
          </a:xfrm>
          <a:prstGeom prst="rect">
            <a:avLst/>
          </a:prstGeom>
          <a:solidFill>
            <a:srgbClr val="4A9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378440" y="3182111"/>
            <a:ext cx="411480" cy="228600"/>
          </a:xfrm>
          <a:prstGeom prst="rect">
            <a:avLst/>
          </a:prstGeom>
          <a:noFill/>
        </p:spPr>
        <p:txBody>
          <a:bodyPr wrap="square" lIns="36576" rIns="36576" tIns="27432" bIns="27432">
            <a:spAutoFit/>
          </a:bodyPr>
          <a:lstStyle/>
          <a:p>
            <a:r>
              <a:rPr sz="1000" b="1">
                <a:solidFill>
                  <a:srgbClr val="4A97FF"/>
                </a:solidFill>
                <a:latin typeface="Aptos"/>
              </a:rPr>
              <a:t>3</a:t>
            </a:r>
          </a:p>
        </p:txBody>
      </p:sp>
      <p:sp>
        <p:nvSpPr>
          <p:cNvPr id="49" name="TextBox 48"/>
          <p:cNvSpPr txBox="1"/>
          <p:nvPr/>
        </p:nvSpPr>
        <p:spPr>
          <a:xfrm>
            <a:off x="6473952" y="3721608"/>
            <a:ext cx="1828800" cy="274320"/>
          </a:xfrm>
          <a:prstGeom prst="rect">
            <a:avLst/>
          </a:prstGeom>
          <a:noFill/>
        </p:spPr>
        <p:txBody>
          <a:bodyPr wrap="square" lIns="36576" rIns="36576" tIns="27432" bIns="27432">
            <a:spAutoFit/>
          </a:bodyPr>
          <a:lstStyle/>
          <a:p>
            <a:r>
              <a:rPr sz="950" b="1">
                <a:solidFill>
                  <a:srgbClr val="F5F8FC"/>
                </a:solidFill>
                <a:latin typeface="Aptos"/>
              </a:rPr>
              <a:t>Royal Challengers Bengaluru</a:t>
            </a:r>
          </a:p>
        </p:txBody>
      </p:sp>
      <p:sp>
        <p:nvSpPr>
          <p:cNvPr id="50" name="Rectangle 49"/>
          <p:cNvSpPr/>
          <p:nvPr/>
        </p:nvSpPr>
        <p:spPr>
          <a:xfrm>
            <a:off x="8339327" y="3744468"/>
            <a:ext cx="1920240" cy="201168"/>
          </a:xfrm>
          <a:prstGeom prst="rect">
            <a:avLst/>
          </a:prstGeom>
          <a:solidFill>
            <a:srgbClr val="1E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8339327" y="3744468"/>
            <a:ext cx="768096" cy="201168"/>
          </a:xfrm>
          <a:prstGeom prst="rect">
            <a:avLst/>
          </a:prstGeom>
          <a:solidFill>
            <a:srgbClr val="FFD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378440" y="3721608"/>
            <a:ext cx="411480" cy="228600"/>
          </a:xfrm>
          <a:prstGeom prst="rect">
            <a:avLst/>
          </a:prstGeom>
          <a:noFill/>
        </p:spPr>
        <p:txBody>
          <a:bodyPr wrap="square" lIns="36576" rIns="36576" tIns="27432" bIns="27432">
            <a:spAutoFit/>
          </a:bodyPr>
          <a:lstStyle/>
          <a:p>
            <a:r>
              <a:rPr sz="1000" b="1">
                <a:solidFill>
                  <a:srgbClr val="FFD055"/>
                </a:solidFill>
                <a:latin typeface="Aptos"/>
              </a:rPr>
              <a:t>2</a:t>
            </a:r>
          </a:p>
        </p:txBody>
      </p:sp>
      <p:sp>
        <p:nvSpPr>
          <p:cNvPr id="53" name="TextBox 52"/>
          <p:cNvSpPr txBox="1"/>
          <p:nvPr/>
        </p:nvSpPr>
        <p:spPr>
          <a:xfrm>
            <a:off x="6473952" y="4261104"/>
            <a:ext cx="1828800" cy="274320"/>
          </a:xfrm>
          <a:prstGeom prst="rect">
            <a:avLst/>
          </a:prstGeom>
          <a:noFill/>
        </p:spPr>
        <p:txBody>
          <a:bodyPr wrap="square" lIns="36576" rIns="36576" tIns="27432" bIns="27432">
            <a:spAutoFit/>
          </a:bodyPr>
          <a:lstStyle/>
          <a:p>
            <a:r>
              <a:rPr sz="950" b="1">
                <a:solidFill>
                  <a:srgbClr val="F5F8FC"/>
                </a:solidFill>
                <a:latin typeface="Aptos"/>
              </a:rPr>
              <a:t>Four other champions</a:t>
            </a:r>
          </a:p>
        </p:txBody>
      </p:sp>
      <p:sp>
        <p:nvSpPr>
          <p:cNvPr id="54" name="Rectangle 53"/>
          <p:cNvSpPr/>
          <p:nvPr/>
        </p:nvSpPr>
        <p:spPr>
          <a:xfrm>
            <a:off x="8339327" y="4283964"/>
            <a:ext cx="1920240" cy="201168"/>
          </a:xfrm>
          <a:prstGeom prst="rect">
            <a:avLst/>
          </a:prstGeom>
          <a:solidFill>
            <a:srgbClr val="1E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339327" y="4283964"/>
            <a:ext cx="384048" cy="201168"/>
          </a:xfrm>
          <a:prstGeom prst="rect">
            <a:avLst/>
          </a:prstGeom>
          <a:solidFill>
            <a:srgbClr val="AEBE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378440" y="4261104"/>
            <a:ext cx="411480" cy="228600"/>
          </a:xfrm>
          <a:prstGeom prst="rect">
            <a:avLst/>
          </a:prstGeom>
          <a:noFill/>
        </p:spPr>
        <p:txBody>
          <a:bodyPr wrap="square" lIns="36576" rIns="36576" tIns="27432" bIns="27432">
            <a:spAutoFit/>
          </a:bodyPr>
          <a:lstStyle/>
          <a:p>
            <a:r>
              <a:rPr sz="1000" b="1">
                <a:solidFill>
                  <a:srgbClr val="AEBECF"/>
                </a:solidFill>
                <a:latin typeface="Aptos"/>
              </a:rPr>
              <a:t>1</a:t>
            </a:r>
          </a:p>
        </p:txBody>
      </p:sp>
      <p:sp>
        <p:nvSpPr>
          <p:cNvPr id="57" name="TextBox 56"/>
          <p:cNvSpPr txBox="1"/>
          <p:nvPr/>
        </p:nvSpPr>
        <p:spPr>
          <a:xfrm>
            <a:off x="6473952" y="5010912"/>
            <a:ext cx="4480560" cy="502920"/>
          </a:xfrm>
          <a:prstGeom prst="rect">
            <a:avLst/>
          </a:prstGeom>
          <a:noFill/>
        </p:spPr>
        <p:txBody>
          <a:bodyPr wrap="square" lIns="36576" rIns="36576" tIns="27432" bIns="27432">
            <a:spAutoFit/>
          </a:bodyPr>
          <a:lstStyle/>
          <a:p>
            <a:r>
              <a:rPr sz="1000" b="1">
                <a:solidFill>
                  <a:srgbClr val="FF9141"/>
                </a:solidFill>
                <a:latin typeface="Aptos"/>
              </a:rPr>
              <a:t>Historical titles describe past success, not a forecast of the 2027 champion.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C1424"/>
        </a:solidFill>
        <a:effectLst/>
      </p:bgPr>
    </p:bg>
    <p:spTree>
      <p:nvGrpSpPr>
        <p:cNvPr id="1" name=""/>
        <p:cNvGrpSpPr/>
        <p:nvPr/>
      </p:nvGrpSpPr>
      <p:grpSpPr/>
      <p:sp>
        <p:nvSpPr>
          <p:cNvPr id="2" name="Rectangle 1"/>
          <p:cNvSpPr/>
          <p:nvPr/>
        </p:nvSpPr>
        <p:spPr>
          <a:xfrm>
            <a:off x="7955279" y="0"/>
            <a:ext cx="4233672" cy="6858000"/>
          </a:xfrm>
          <a:prstGeom prst="rect">
            <a:avLst/>
          </a:prstGeom>
          <a:solidFill>
            <a:srgbClr val="0F2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94360"/>
            <a:ext cx="5212080" cy="320040"/>
          </a:xfrm>
          <a:prstGeom prst="rect">
            <a:avLst/>
          </a:prstGeom>
          <a:noFill/>
        </p:spPr>
        <p:txBody>
          <a:bodyPr wrap="square" lIns="36576" rIns="36576" tIns="36576" bIns="36576" anchor="t">
            <a:spAutoFit/>
          </a:bodyPr>
          <a:lstStyle/>
          <a:p>
            <a:pPr>
              <a:spcAft>
                <a:spcPts val="400"/>
              </a:spcAft>
            </a:pPr>
            <a:r>
              <a:rPr sz="1200" b="1">
                <a:solidFill>
                  <a:srgbClr val="46D287"/>
                </a:solidFill>
                <a:latin typeface="Aptos"/>
              </a:rPr>
              <a:t>TAKEAWAYS</a:t>
            </a:r>
          </a:p>
        </p:txBody>
      </p:sp>
      <p:sp>
        <p:nvSpPr>
          <p:cNvPr id="4" name="TextBox 3"/>
          <p:cNvSpPr txBox="1"/>
          <p:nvPr/>
        </p:nvSpPr>
        <p:spPr>
          <a:xfrm>
            <a:off x="731520" y="1143000"/>
            <a:ext cx="6766560" cy="658368"/>
          </a:xfrm>
          <a:prstGeom prst="rect">
            <a:avLst/>
          </a:prstGeom>
          <a:noFill/>
        </p:spPr>
        <p:txBody>
          <a:bodyPr wrap="square" lIns="36576" rIns="36576" tIns="36576" bIns="36576" anchor="t">
            <a:spAutoFit/>
          </a:bodyPr>
          <a:lstStyle/>
          <a:p>
            <a:pPr>
              <a:spcAft>
                <a:spcPts val="400"/>
              </a:spcAft>
            </a:pPr>
            <a:r>
              <a:rPr sz="2900" b="1">
                <a:solidFill>
                  <a:srgbClr val="F5F8FC"/>
                </a:solidFill>
                <a:latin typeface="Aptos"/>
              </a:rPr>
              <a:t>Conclusion &amp; Future Scope</a:t>
            </a:r>
          </a:p>
        </p:txBody>
      </p:sp>
      <p:sp>
        <p:nvSpPr>
          <p:cNvPr id="5" name="Oval 4"/>
          <p:cNvSpPr/>
          <p:nvPr/>
        </p:nvSpPr>
        <p:spPr>
          <a:xfrm>
            <a:off x="777240" y="2130552"/>
            <a:ext cx="100584" cy="100584"/>
          </a:xfrm>
          <a:prstGeom prst="ellipse">
            <a:avLst/>
          </a:prstGeom>
          <a:solidFill>
            <a:srgbClr val="46D2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 y="2057400"/>
            <a:ext cx="6428232" cy="603503"/>
          </a:xfrm>
          <a:prstGeom prst="rect">
            <a:avLst/>
          </a:prstGeom>
          <a:noFill/>
        </p:spPr>
        <p:txBody>
          <a:bodyPr wrap="square" lIns="36576" rIns="36576" tIns="36576" bIns="36576" anchor="t">
            <a:spAutoFit/>
          </a:bodyPr>
          <a:lstStyle/>
          <a:p>
            <a:pPr>
              <a:spcAft>
                <a:spcPts val="400"/>
              </a:spcAft>
            </a:pPr>
            <a:r>
              <a:rPr sz="1400" b="0">
                <a:solidFill>
                  <a:srgbClr val="F5F8FC"/>
                </a:solidFill>
                <a:latin typeface="Aptos"/>
              </a:rPr>
              <a:t>Power BI makes historical IPL performance easier to explore.</a:t>
            </a:r>
          </a:p>
        </p:txBody>
      </p:sp>
      <p:sp>
        <p:nvSpPr>
          <p:cNvPr id="7" name="Oval 6"/>
          <p:cNvSpPr/>
          <p:nvPr/>
        </p:nvSpPr>
        <p:spPr>
          <a:xfrm>
            <a:off x="777240" y="2770632"/>
            <a:ext cx="100584" cy="100584"/>
          </a:xfrm>
          <a:prstGeom prst="ellipse">
            <a:avLst/>
          </a:prstGeom>
          <a:solidFill>
            <a:srgbClr val="46D2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697480"/>
            <a:ext cx="6428232" cy="603503"/>
          </a:xfrm>
          <a:prstGeom prst="rect">
            <a:avLst/>
          </a:prstGeom>
          <a:noFill/>
        </p:spPr>
        <p:txBody>
          <a:bodyPr wrap="square" lIns="36576" rIns="36576" tIns="36576" bIns="36576" anchor="t">
            <a:spAutoFit/>
          </a:bodyPr>
          <a:lstStyle/>
          <a:p>
            <a:pPr>
              <a:spcAft>
                <a:spcPts val="400"/>
              </a:spcAft>
            </a:pPr>
            <a:r>
              <a:rPr sz="1400" b="0">
                <a:solidFill>
                  <a:srgbClr val="F5F8FC"/>
                </a:solidFill>
                <a:latin typeface="Aptos"/>
              </a:rPr>
              <a:t>Clear KPIs support fairer team comparisons.</a:t>
            </a:r>
          </a:p>
        </p:txBody>
      </p:sp>
      <p:sp>
        <p:nvSpPr>
          <p:cNvPr id="9" name="Oval 8"/>
          <p:cNvSpPr/>
          <p:nvPr/>
        </p:nvSpPr>
        <p:spPr>
          <a:xfrm>
            <a:off x="777240" y="3410712"/>
            <a:ext cx="100584" cy="100584"/>
          </a:xfrm>
          <a:prstGeom prst="ellipse">
            <a:avLst/>
          </a:prstGeom>
          <a:solidFill>
            <a:srgbClr val="46D2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3337560"/>
            <a:ext cx="6428232" cy="603503"/>
          </a:xfrm>
          <a:prstGeom prst="rect">
            <a:avLst/>
          </a:prstGeom>
          <a:noFill/>
        </p:spPr>
        <p:txBody>
          <a:bodyPr wrap="square" lIns="36576" rIns="36576" tIns="36576" bIns="36576" anchor="t">
            <a:spAutoFit/>
          </a:bodyPr>
          <a:lstStyle/>
          <a:p>
            <a:pPr>
              <a:spcAft>
                <a:spcPts val="400"/>
              </a:spcAft>
            </a:pPr>
            <a:r>
              <a:rPr sz="1400" b="0">
                <a:solidFill>
                  <a:srgbClr val="F5F8FC"/>
                </a:solidFill>
                <a:latin typeface="Aptos"/>
              </a:rPr>
              <a:t>A validated model can estimate strengths, not guarantee outcomes.</a:t>
            </a:r>
          </a:p>
        </p:txBody>
      </p:sp>
      <p:sp>
        <p:nvSpPr>
          <p:cNvPr id="11" name="Oval 10"/>
          <p:cNvSpPr/>
          <p:nvPr/>
        </p:nvSpPr>
        <p:spPr>
          <a:xfrm>
            <a:off x="777240" y="4050791"/>
            <a:ext cx="100584" cy="100584"/>
          </a:xfrm>
          <a:prstGeom prst="ellipse">
            <a:avLst/>
          </a:prstGeom>
          <a:solidFill>
            <a:srgbClr val="46D2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8408" y="3977639"/>
            <a:ext cx="6428232" cy="603503"/>
          </a:xfrm>
          <a:prstGeom prst="rect">
            <a:avLst/>
          </a:prstGeom>
          <a:noFill/>
        </p:spPr>
        <p:txBody>
          <a:bodyPr wrap="square" lIns="36576" rIns="36576" tIns="36576" bIns="36576" anchor="t">
            <a:spAutoFit/>
          </a:bodyPr>
          <a:lstStyle/>
          <a:p>
            <a:pPr>
              <a:spcAft>
                <a:spcPts val="400"/>
              </a:spcAft>
            </a:pPr>
            <a:r>
              <a:rPr sz="1400" b="0">
                <a:solidFill>
                  <a:srgbClr val="F5F8FC"/>
                </a:solidFill>
                <a:latin typeface="Aptos"/>
              </a:rPr>
              <a:t>Future work: refresh data, include squad changes and compare models.</a:t>
            </a:r>
          </a:p>
        </p:txBody>
      </p:sp>
      <p:sp>
        <p:nvSpPr>
          <p:cNvPr id="13" name="TextBox 12"/>
          <p:cNvSpPr txBox="1"/>
          <p:nvPr/>
        </p:nvSpPr>
        <p:spPr>
          <a:xfrm>
            <a:off x="777240" y="5166360"/>
            <a:ext cx="6217920" cy="685800"/>
          </a:xfrm>
          <a:prstGeom prst="rect">
            <a:avLst/>
          </a:prstGeom>
          <a:noFill/>
        </p:spPr>
        <p:txBody>
          <a:bodyPr wrap="square" lIns="36576" rIns="36576" tIns="36576" bIns="36576" anchor="t">
            <a:spAutoFit/>
          </a:bodyPr>
          <a:lstStyle/>
          <a:p>
            <a:pPr>
              <a:spcAft>
                <a:spcPts val="400"/>
              </a:spcAft>
            </a:pPr>
            <a:r>
              <a:rPr sz="3000" b="1">
                <a:solidFill>
                  <a:srgbClr val="46D287"/>
                </a:solidFill>
                <a:latin typeface="Aptos"/>
              </a:rPr>
              <a:t>THANK YOU</a:t>
            </a:r>
          </a:p>
        </p:txBody>
      </p:sp>
      <p:sp>
        <p:nvSpPr>
          <p:cNvPr id="14" name="TextBox 13"/>
          <p:cNvSpPr txBox="1"/>
          <p:nvPr/>
        </p:nvSpPr>
        <p:spPr>
          <a:xfrm>
            <a:off x="804672" y="5806440"/>
            <a:ext cx="6126480" cy="320040"/>
          </a:xfrm>
          <a:prstGeom prst="rect">
            <a:avLst/>
          </a:prstGeom>
          <a:noFill/>
        </p:spPr>
        <p:txBody>
          <a:bodyPr wrap="square" lIns="36576" rIns="36576" tIns="36576" bIns="36576" anchor="t">
            <a:spAutoFit/>
          </a:bodyPr>
          <a:lstStyle/>
          <a:p>
            <a:pPr>
              <a:spcAft>
                <a:spcPts val="400"/>
              </a:spcAft>
            </a:pPr>
            <a:r>
              <a:rPr sz="1700" b="1">
                <a:solidFill>
                  <a:srgbClr val="F5F8FC"/>
                </a:solidFill>
                <a:latin typeface="Aptos"/>
              </a:rPr>
              <a:t>Any Questions?</a:t>
            </a:r>
          </a:p>
        </p:txBody>
      </p:sp>
      <p:sp>
        <p:nvSpPr>
          <p:cNvPr id="15" name="Rectangle 14"/>
          <p:cNvSpPr/>
          <p:nvPr/>
        </p:nvSpPr>
        <p:spPr>
          <a:xfrm>
            <a:off x="8366760" y="4526280"/>
            <a:ext cx="274320" cy="1097280"/>
          </a:xfrm>
          <a:prstGeom prst="rect">
            <a:avLst/>
          </a:prstGeom>
          <a:solidFill>
            <a:srgbClr val="46D2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897112" y="3794760"/>
            <a:ext cx="274320" cy="1828800"/>
          </a:xfrm>
          <a:prstGeom prst="rect">
            <a:avLst/>
          </a:prstGeom>
          <a:solidFill>
            <a:srgbClr val="FF9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427464" y="4251960"/>
            <a:ext cx="274320" cy="1371600"/>
          </a:xfrm>
          <a:prstGeom prst="rect">
            <a:avLst/>
          </a:prstGeom>
          <a:solidFill>
            <a:srgbClr val="4A9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957816" y="3063240"/>
            <a:ext cx="274320" cy="2560320"/>
          </a:xfrm>
          <a:prstGeom prst="rect">
            <a:avLst/>
          </a:prstGeom>
          <a:solidFill>
            <a:srgbClr val="FFD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488168" y="3566160"/>
            <a:ext cx="274320" cy="2057400"/>
          </a:xfrm>
          <a:prstGeom prst="rect">
            <a:avLst/>
          </a:prstGeom>
          <a:solidFill>
            <a:srgbClr val="46D2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1018520" y="2606040"/>
            <a:ext cx="274320" cy="3017520"/>
          </a:xfrm>
          <a:prstGeom prst="rect">
            <a:avLst/>
          </a:prstGeom>
          <a:solidFill>
            <a:srgbClr val="FF9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66760" y="5943600"/>
            <a:ext cx="3383280" cy="320040"/>
          </a:xfrm>
          <a:prstGeom prst="rect">
            <a:avLst/>
          </a:prstGeom>
          <a:noFill/>
        </p:spPr>
        <p:txBody>
          <a:bodyPr wrap="square" lIns="36576" rIns="36576" tIns="36576" bIns="36576" anchor="t">
            <a:spAutoFit/>
          </a:bodyPr>
          <a:lstStyle/>
          <a:p>
            <a:pPr algn="ctr">
              <a:spcAft>
                <a:spcPts val="400"/>
              </a:spcAft>
            </a:pPr>
            <a:r>
              <a:rPr sz="1100" b="1">
                <a:solidFill>
                  <a:srgbClr val="F5F8FC"/>
                </a:solidFill>
                <a:latin typeface="Aptos"/>
              </a:rPr>
              <a:t>DATA → INSIGHT → ESTIMATE</a:t>
            </a:r>
          </a:p>
        </p:txBody>
      </p:sp>
      <p:sp>
        <p:nvSpPr>
          <p:cNvPr id="22" name="TextBox 21"/>
          <p:cNvSpPr txBox="1"/>
          <p:nvPr/>
        </p:nvSpPr>
        <p:spPr>
          <a:xfrm>
            <a:off x="8183879" y="594360"/>
            <a:ext cx="3474720" cy="777240"/>
          </a:xfrm>
          <a:prstGeom prst="rect">
            <a:avLst/>
          </a:prstGeom>
          <a:noFill/>
        </p:spPr>
        <p:txBody>
          <a:bodyPr wrap="square" lIns="36576" rIns="36576" tIns="27432" bIns="27432">
            <a:spAutoFit/>
          </a:bodyPr>
          <a:lstStyle/>
          <a:p>
            <a:r>
              <a:rPr sz="900" b="0">
                <a:solidFill>
                  <a:srgbClr val="F5F8FC"/>
                </a:solidFill>
                <a:latin typeface="Aptos"/>
              </a:rPr>
              <a:t>DATA REFERENCES
iplt20.com • official IPL records
Kaggle: IPL match / ball-by-ball datasets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IPL 2027 Winner Prediction Using Power BI — Data-Added Version</dc:title>
  <dc:subject>BBA Business Analytics sports analytics presentation</dc:subject>
  <dc:creator>Raunak Upadhyay</dc:creator>
  <cp:keywords>IPL, Power BI, Sports Analytics, Prediction, BBA</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